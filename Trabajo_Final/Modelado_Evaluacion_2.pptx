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13"/>
  </p:notesMasterIdLst>
  <p:sldIdLst>
    <p:sldId id="266" r:id="rId2"/>
    <p:sldId id="267" r:id="rId3"/>
    <p:sldId id="268" r:id="rId4"/>
    <p:sldId id="269" r:id="rId5"/>
    <p:sldId id="270" r:id="rId6"/>
    <p:sldId id="271" r:id="rId7"/>
    <p:sldId id="272" r:id="rId8"/>
    <p:sldId id="273" r:id="rId9"/>
    <p:sldId id="274" r:id="rId10"/>
    <p:sldId id="275" r:id="rId11"/>
    <p:sldId id="276" r:id="rId1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5" d="100"/>
          <a:sy n="85" d="100"/>
        </p:scale>
        <p:origin x="562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7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8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0" vertOverflow="ellipsis" vert="horz" wrap="square" anchor="ctr" anchorCtr="1"/>
          <a:lstStyle/>
          <a:p>
            <a:pPr>
              <a:defRPr lang="es-ES" sz="1200" b="0" i="0" u="none" strike="noStrike" kern="1200" baseline="0">
                <a:solidFill>
                  <a:srgbClr val="1A2340"/>
                </a:solidFill>
                <a:latin typeface="Arial" panose="020B0604020202020204"/>
                <a:ea typeface="+mn-ea"/>
                <a:cs typeface="+mn-cs"/>
              </a:defRPr>
            </a:pPr>
            <a:r>
              <a:rPr lang="es-CO" sz="1200" b="0" i="0" u="none" strike="noStrike">
                <a:solidFill>
                  <a:srgbClr val="1A2340"/>
                </a:solidFill>
                <a:latin typeface="Arial" panose="020B0604020202020204"/>
              </a:rPr>
              <a:t>R² promedio CV 5-fold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R² CV</c:v>
                </c:pt>
              </c:strCache>
            </c:strRef>
          </c:tx>
          <c:spPr>
            <a:solidFill>
              <a:srgbClr val="10B981"/>
            </a:solidFill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10B98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226F-474C-A4D3-104EB04C73E8}"/>
              </c:ext>
            </c:extLst>
          </c:dPt>
          <c:dPt>
            <c:idx val="1"/>
            <c:invertIfNegative val="0"/>
            <c:bubble3D val="0"/>
            <c:spPr>
              <a:solidFill>
                <a:srgbClr val="10B98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226F-474C-A4D3-104EB04C73E8}"/>
              </c:ext>
            </c:extLst>
          </c:dPt>
          <c:dPt>
            <c:idx val="2"/>
            <c:invertIfNegative val="0"/>
            <c:bubble3D val="0"/>
            <c:spPr>
              <a:solidFill>
                <a:srgbClr val="10B98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226F-474C-A4D3-104EB04C73E8}"/>
              </c:ext>
            </c:extLst>
          </c:dPt>
          <c:dPt>
            <c:idx val="3"/>
            <c:invertIfNegative val="0"/>
            <c:bubble3D val="0"/>
            <c:spPr>
              <a:solidFill>
                <a:srgbClr val="00B4D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226F-474C-A4D3-104EB04C73E8}"/>
              </c:ext>
            </c:extLst>
          </c:dPt>
          <c:dPt>
            <c:idx val="4"/>
            <c:invertIfNegative val="0"/>
            <c:bubble3D val="0"/>
            <c:spPr>
              <a:solidFill>
                <a:srgbClr val="00B4D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226F-474C-A4D3-104EB04C73E8}"/>
              </c:ext>
            </c:extLst>
          </c:dPt>
          <c:dPt>
            <c:idx val="5"/>
            <c:invertIfNegative val="0"/>
            <c:bubble3D val="0"/>
            <c:spPr>
              <a:solidFill>
                <a:srgbClr val="00B4D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226F-474C-A4D3-104EB04C73E8}"/>
              </c:ext>
            </c:extLst>
          </c:dPt>
          <c:dPt>
            <c:idx val="6"/>
            <c:invertIfNegative val="0"/>
            <c:bubble3D val="0"/>
            <c:spPr>
              <a:solidFill>
                <a:srgbClr val="94A3B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D-226F-474C-A4D3-104EB04C73E8}"/>
              </c:ext>
            </c:extLst>
          </c:dPt>
          <c:dPt>
            <c:idx val="7"/>
            <c:invertIfNegative val="0"/>
            <c:bubble3D val="0"/>
            <c:spPr>
              <a:solidFill>
                <a:srgbClr val="94A3B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F-226F-474C-A4D3-104EB04C73E8}"/>
              </c:ext>
            </c:extLst>
          </c:dPt>
          <c:dPt>
            <c:idx val="8"/>
            <c:invertIfNegative val="0"/>
            <c:bubble3D val="0"/>
            <c:spPr>
              <a:solidFill>
                <a:srgbClr val="94A3B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11-226F-474C-A4D3-104EB04C73E8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s-ES" sz="900" b="0" i="0" u="none" strike="noStrike" kern="1200" baseline="0">
                    <a:solidFill>
                      <a:srgbClr val="1E293B"/>
                    </a:solidFill>
                    <a:latin typeface="Arial" panose="020B0604020202020204"/>
                    <a:ea typeface="+mn-ea"/>
                    <a:cs typeface="+mn-cs"/>
                  </a:defRPr>
                </a:pPr>
                <a:endParaRPr lang="es-CO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Sheet1!$A$2:$A$10</c:f>
              <c:strCache>
                <c:ptCount val="9"/>
                <c:pt idx="0">
                  <c:v>RandomForest</c:v>
                </c:pt>
                <c:pt idx="1">
                  <c:v>ExtraTrees</c:v>
                </c:pt>
                <c:pt idx="2">
                  <c:v>GradientBoosting</c:v>
                </c:pt>
                <c:pt idx="3">
                  <c:v>LinearRegression</c:v>
                </c:pt>
                <c:pt idx="4">
                  <c:v>Ridge</c:v>
                </c:pt>
                <c:pt idx="5">
                  <c:v>KNN</c:v>
                </c:pt>
                <c:pt idx="6">
                  <c:v>ElasticNet</c:v>
                </c:pt>
                <c:pt idx="7">
                  <c:v>Lasso</c:v>
                </c:pt>
                <c:pt idx="8">
                  <c:v>DecisionTree</c:v>
                </c:pt>
              </c:strCache>
            </c: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0.82869999999999999</c:v>
                </c:pt>
                <c:pt idx="1">
                  <c:v>0.81789999999999996</c:v>
                </c:pt>
                <c:pt idx="2">
                  <c:v>0.81310000000000004</c:v>
                </c:pt>
                <c:pt idx="3">
                  <c:v>0.71</c:v>
                </c:pt>
                <c:pt idx="4">
                  <c:v>0.71</c:v>
                </c:pt>
                <c:pt idx="5">
                  <c:v>0.70450000000000002</c:v>
                </c:pt>
                <c:pt idx="6">
                  <c:v>0.6986</c:v>
                </c:pt>
                <c:pt idx="7">
                  <c:v>0.68289999999999995</c:v>
                </c:pt>
                <c:pt idx="8">
                  <c:v>0.67589999999999995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2-226F-474C-A4D3-104EB04C73E8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es-ES" sz="1200" b="0" i="0" u="none" strike="noStrike" kern="1200" baseline="0">
                <a:solidFill>
                  <a:srgbClr val="334155"/>
                </a:solidFill>
                <a:latin typeface="Arial" panose="020B0604020202020204"/>
                <a:ea typeface="+mn-ea"/>
                <a:cs typeface="+mn-cs"/>
              </a:defRPr>
            </a:pPr>
            <a:endParaRPr lang="es-CO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0.9"/>
          <c:min val="0.6"/>
        </c:scaling>
        <c:delete val="0"/>
        <c:axPos val="b"/>
        <c:majorGridlines>
          <c:spPr>
            <a:ln w="6350" cap="flat" cmpd="sng" algn="ctr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es-ES" sz="1200" b="0" i="0" u="none" strike="noStrike" kern="1200" baseline="0">
                <a:solidFill>
                  <a:srgbClr val="64748B"/>
                </a:solidFill>
                <a:latin typeface="Arial" panose="020B0604020202020204"/>
                <a:ea typeface="+mn-ea"/>
                <a:cs typeface="+mn-cs"/>
              </a:defRPr>
            </a:pPr>
            <a:endParaRPr lang="es-CO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0"/>
    <c:extLst>
      <c:ext uri="{0b15fc19-7d7d-44ad-8c2d-2c3a37ce22c3}">
        <chartProps xmlns="https://web.wps.cn/et/2018/main" chartId="{7661fa9e-502f-4bf5-b450-69cfcd938266}"/>
      </c:ext>
    </c:extLst>
  </c:chart>
  <c:spPr>
    <a:solidFill>
      <a:srgbClr val="FFFFFF"/>
    </a:solidFill>
    <a:ln>
      <a:noFill/>
    </a:ln>
    <a:effectLst/>
  </c:spPr>
  <c:txPr>
    <a:bodyPr/>
    <a:lstStyle/>
    <a:p>
      <a:pPr>
        <a:defRPr lang="es-ES"/>
      </a:pPr>
      <a:endParaRPr lang="es-CO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0" vertOverflow="ellipsis" vert="horz" wrap="square" anchor="ctr" anchorCtr="1"/>
          <a:lstStyle/>
          <a:p>
            <a:pPr>
              <a:defRPr lang="es-ES" sz="1200" b="0" i="0" u="none" strike="noStrike" kern="1200" baseline="0">
                <a:solidFill>
                  <a:srgbClr val="1A2340"/>
                </a:solidFill>
                <a:latin typeface="Arial" panose="020B0604020202020204"/>
                <a:ea typeface="+mn-ea"/>
                <a:cs typeface="+mn-cs"/>
              </a:defRPr>
            </a:pPr>
            <a:r>
              <a:rPr lang="es-CO" sz="1200" b="0" i="0" u="none" strike="noStrike">
                <a:solidFill>
                  <a:srgbClr val="1A2340"/>
                </a:solidFill>
                <a:latin typeface="Arial" panose="020B0604020202020204"/>
              </a:rPr>
              <a:t>R² promedio CV 5-fold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R² CV</c:v>
                </c:pt>
              </c:strCache>
            </c:strRef>
          </c:tx>
          <c:spPr>
            <a:solidFill>
              <a:srgbClr val="10B981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890F-4E94-83E8-0185170B4BD1}"/>
              </c:ext>
            </c:extLst>
          </c:dPt>
          <c:dPt>
            <c:idx val="1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3-890F-4E94-83E8-0185170B4BD1}"/>
              </c:ext>
            </c:extLst>
          </c:dPt>
          <c:dPt>
            <c:idx val="2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5-890F-4E94-83E8-0185170B4BD1}"/>
              </c:ext>
            </c:extLst>
          </c:dPt>
          <c:dPt>
            <c:idx val="3"/>
            <c:invertIfNegative val="0"/>
            <c:bubble3D val="0"/>
            <c:spPr>
              <a:solidFill>
                <a:srgbClr val="00B4D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890F-4E94-83E8-0185170B4BD1}"/>
              </c:ext>
            </c:extLst>
          </c:dPt>
          <c:dPt>
            <c:idx val="4"/>
            <c:invertIfNegative val="0"/>
            <c:bubble3D val="0"/>
            <c:spPr>
              <a:solidFill>
                <a:srgbClr val="00B4D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890F-4E94-83E8-0185170B4BD1}"/>
              </c:ext>
            </c:extLst>
          </c:dPt>
          <c:dPt>
            <c:idx val="5"/>
            <c:invertIfNegative val="0"/>
            <c:bubble3D val="0"/>
            <c:spPr>
              <a:solidFill>
                <a:srgbClr val="00B4D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890F-4E94-83E8-0185170B4BD1}"/>
              </c:ext>
            </c:extLst>
          </c:dPt>
          <c:dPt>
            <c:idx val="6"/>
            <c:invertIfNegative val="0"/>
            <c:bubble3D val="0"/>
            <c:spPr>
              <a:solidFill>
                <a:srgbClr val="94A3B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D-890F-4E94-83E8-0185170B4BD1}"/>
              </c:ext>
            </c:extLst>
          </c:dPt>
          <c:dPt>
            <c:idx val="7"/>
            <c:invertIfNegative val="0"/>
            <c:bubble3D val="0"/>
            <c:spPr>
              <a:solidFill>
                <a:srgbClr val="94A3B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F-890F-4E94-83E8-0185170B4BD1}"/>
              </c:ext>
            </c:extLst>
          </c:dPt>
          <c:dPt>
            <c:idx val="8"/>
            <c:invertIfNegative val="0"/>
            <c:bubble3D val="0"/>
            <c:spPr>
              <a:solidFill>
                <a:srgbClr val="94A3B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11-890F-4E94-83E8-0185170B4BD1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s-ES" sz="900" b="0" i="0" u="none" strike="noStrike" kern="1200" baseline="0">
                    <a:solidFill>
                      <a:srgbClr val="1E293B"/>
                    </a:solidFill>
                    <a:latin typeface="Arial" panose="020B0604020202020204"/>
                    <a:ea typeface="+mn-ea"/>
                    <a:cs typeface="+mn-cs"/>
                  </a:defRPr>
                </a:pPr>
                <a:endParaRPr lang="es-CO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Sheet1!$A$2:$A$10</c:f>
              <c:strCache>
                <c:ptCount val="9"/>
                <c:pt idx="0">
                  <c:v>RandomForest</c:v>
                </c:pt>
                <c:pt idx="1">
                  <c:v>ExtraTrees</c:v>
                </c:pt>
                <c:pt idx="2">
                  <c:v>GradientBoosting</c:v>
                </c:pt>
                <c:pt idx="3">
                  <c:v>LinearRegression</c:v>
                </c:pt>
                <c:pt idx="4">
                  <c:v>Ridge</c:v>
                </c:pt>
                <c:pt idx="5">
                  <c:v>KNN</c:v>
                </c:pt>
                <c:pt idx="6">
                  <c:v>ElasticNet</c:v>
                </c:pt>
                <c:pt idx="7">
                  <c:v>Lasso</c:v>
                </c:pt>
                <c:pt idx="8">
                  <c:v>DecisionTree</c:v>
                </c:pt>
              </c:strCache>
            </c: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0.82869999999999999</c:v>
                </c:pt>
                <c:pt idx="1">
                  <c:v>0.81789999999999996</c:v>
                </c:pt>
                <c:pt idx="2">
                  <c:v>0.81310000000000004</c:v>
                </c:pt>
                <c:pt idx="3">
                  <c:v>0.71</c:v>
                </c:pt>
                <c:pt idx="4">
                  <c:v>0.71</c:v>
                </c:pt>
                <c:pt idx="5">
                  <c:v>0.70450000000000002</c:v>
                </c:pt>
                <c:pt idx="6">
                  <c:v>0.6986</c:v>
                </c:pt>
                <c:pt idx="7">
                  <c:v>0.68289999999999995</c:v>
                </c:pt>
                <c:pt idx="8">
                  <c:v>0.67589999999999995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2-890F-4E94-83E8-0185170B4BD1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es-ES" sz="1200" b="0" i="0" u="none" strike="noStrike" kern="1200" baseline="0">
                <a:solidFill>
                  <a:srgbClr val="334155"/>
                </a:solidFill>
                <a:latin typeface="Arial" panose="020B0604020202020204"/>
                <a:ea typeface="+mn-ea"/>
                <a:cs typeface="+mn-cs"/>
              </a:defRPr>
            </a:pPr>
            <a:endParaRPr lang="es-CO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0.9"/>
          <c:min val="0.6"/>
        </c:scaling>
        <c:delete val="0"/>
        <c:axPos val="b"/>
        <c:majorGridlines>
          <c:spPr>
            <a:ln w="6350" cap="flat" cmpd="sng" algn="ctr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es-ES" sz="1200" b="0" i="0" u="none" strike="noStrike" kern="1200" baseline="0">
                <a:solidFill>
                  <a:srgbClr val="64748B"/>
                </a:solidFill>
                <a:latin typeface="Arial" panose="020B0604020202020204"/>
                <a:ea typeface="+mn-ea"/>
                <a:cs typeface="+mn-cs"/>
              </a:defRPr>
            </a:pPr>
            <a:endParaRPr lang="es-CO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0"/>
    <c:extLst>
      <c:ext uri="{0b15fc19-7d7d-44ad-8c2d-2c3a37ce22c3}">
        <chartProps xmlns="https://web.wps.cn/et/2018/main" chartId="{7661fa9e-502f-4bf5-b450-69cfcd938266}"/>
      </c:ext>
    </c:extLst>
  </c:chart>
  <c:spPr>
    <a:solidFill>
      <a:srgbClr val="FFFFFF"/>
    </a:solidFill>
    <a:ln>
      <a:noFill/>
    </a:ln>
    <a:effectLst/>
  </c:spPr>
  <c:txPr>
    <a:bodyPr/>
    <a:lstStyle/>
    <a:p>
      <a:pPr>
        <a:defRPr lang="es-ES"/>
      </a:pPr>
      <a:endParaRPr lang="es-CO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0" vertOverflow="ellipsis" vert="horz" wrap="square" anchor="ctr" anchorCtr="1"/>
          <a:lstStyle/>
          <a:p>
            <a:pPr>
              <a:defRPr lang="es-ES" sz="1100" b="0" i="0" u="none" strike="noStrike" kern="1200" baseline="0">
                <a:solidFill>
                  <a:srgbClr val="1A2340"/>
                </a:solidFill>
                <a:latin typeface="Arial" panose="020B0604020202020204"/>
                <a:ea typeface="+mn-ea"/>
                <a:cs typeface="+mn-cs"/>
              </a:defRPr>
            </a:pPr>
            <a:r>
              <a:rPr lang="es-CO" sz="1100" b="0" i="0" u="none" strike="noStrike">
                <a:solidFill>
                  <a:srgbClr val="1A2340"/>
                </a:solidFill>
                <a:latin typeface="Arial" panose="020B0604020202020204"/>
              </a:rPr>
              <a:t>Gap de overfitting |R²_train − R²_test|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Gap Overfit</c:v>
                </c:pt>
              </c:strCache>
            </c:strRef>
          </c:tx>
          <c:spPr>
            <a:solidFill>
              <a:srgbClr val="F59E0B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0034-4482-B215-140606532421}"/>
              </c:ext>
            </c:extLst>
          </c:dPt>
          <c:dPt>
            <c:idx val="1"/>
            <c:invertIfNegative val="0"/>
            <c:bubble3D val="0"/>
            <c:spPr>
              <a:solidFill>
                <a:srgbClr val="EF4444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0034-4482-B215-140606532421}"/>
              </c:ext>
            </c:extLst>
          </c:dPt>
          <c:dPt>
            <c:idx val="2"/>
            <c:invertIfNegative val="0"/>
            <c:bubble3D val="0"/>
            <c:spPr>
              <a:solidFill>
                <a:srgbClr val="10B98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0034-4482-B215-140606532421}"/>
              </c:ext>
            </c:extLst>
          </c:dPt>
          <c:dPt>
            <c:idx val="3"/>
            <c:invertIfNegative val="0"/>
            <c:bubble3D val="0"/>
            <c:spPr>
              <a:solidFill>
                <a:srgbClr val="10B98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0034-4482-B215-140606532421}"/>
              </c:ext>
            </c:extLst>
          </c:dPt>
          <c:dPt>
            <c:idx val="4"/>
            <c:invertIfNegative val="0"/>
            <c:bubble3D val="0"/>
            <c:spPr>
              <a:solidFill>
                <a:srgbClr val="10B98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0034-4482-B215-140606532421}"/>
              </c:ext>
            </c:extLst>
          </c:dPt>
          <c:dPt>
            <c:idx val="5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B-0034-4482-B215-140606532421}"/>
              </c:ext>
            </c:extLst>
          </c:dPt>
          <c:dPt>
            <c:idx val="6"/>
            <c:invertIfNegative val="0"/>
            <c:bubble3D val="0"/>
            <c:spPr>
              <a:solidFill>
                <a:srgbClr val="10B98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D-0034-4482-B215-140606532421}"/>
              </c:ext>
            </c:extLst>
          </c:dPt>
          <c:dPt>
            <c:idx val="7"/>
            <c:invertIfNegative val="0"/>
            <c:bubble3D val="0"/>
            <c:spPr>
              <a:solidFill>
                <a:srgbClr val="10B98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F-0034-4482-B215-140606532421}"/>
              </c:ext>
            </c:extLst>
          </c:dPt>
          <c:dPt>
            <c:idx val="8"/>
            <c:invertIfNegative val="0"/>
            <c:bubble3D val="0"/>
            <c:spPr>
              <a:solidFill>
                <a:srgbClr val="EF4444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11-0034-4482-B215-140606532421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s-ES" sz="800" b="0" i="0" u="none" strike="noStrike" kern="1200" baseline="0">
                    <a:solidFill>
                      <a:srgbClr val="1E293B"/>
                    </a:solidFill>
                    <a:latin typeface="Arial" panose="020B0604020202020204"/>
                    <a:ea typeface="+mn-ea"/>
                    <a:cs typeface="+mn-cs"/>
                  </a:defRPr>
                </a:pPr>
                <a:endParaRPr lang="es-CO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Sheet1!$A$2:$A$10</c:f>
              <c:strCache>
                <c:ptCount val="9"/>
                <c:pt idx="0">
                  <c:v>RandomForest</c:v>
                </c:pt>
                <c:pt idx="1">
                  <c:v>ExtraTrees</c:v>
                </c:pt>
                <c:pt idx="2">
                  <c:v>GradientBoosting</c:v>
                </c:pt>
                <c:pt idx="3">
                  <c:v>LinearRegression</c:v>
                </c:pt>
                <c:pt idx="4">
                  <c:v>Ridge</c:v>
                </c:pt>
                <c:pt idx="5">
                  <c:v>KNN</c:v>
                </c:pt>
                <c:pt idx="6">
                  <c:v>ElasticNet</c:v>
                </c:pt>
                <c:pt idx="7">
                  <c:v>Lasso</c:v>
                </c:pt>
                <c:pt idx="8">
                  <c:v>DecisionTree</c:v>
                </c:pt>
              </c:strCache>
            </c: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0.13780000000000001</c:v>
                </c:pt>
                <c:pt idx="1">
                  <c:v>0.18010000000000001</c:v>
                </c:pt>
                <c:pt idx="2">
                  <c:v>8.6999999999999994E-3</c:v>
                </c:pt>
                <c:pt idx="3">
                  <c:v>9.4999999999999998E-3</c:v>
                </c:pt>
                <c:pt idx="4">
                  <c:v>9.5999999999999992E-3</c:v>
                </c:pt>
                <c:pt idx="5">
                  <c:v>9.0899999999999995E-2</c:v>
                </c:pt>
                <c:pt idx="6">
                  <c:v>9.4000000000000004E-3</c:v>
                </c:pt>
                <c:pt idx="7">
                  <c:v>8.3999999999999995E-3</c:v>
                </c:pt>
                <c:pt idx="8">
                  <c:v>0.30159999999999998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2-0034-4482-B215-140606532421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es-ES" sz="1200" b="0" i="0" u="none" strike="noStrike" kern="1200" baseline="0">
                <a:solidFill>
                  <a:srgbClr val="334155"/>
                </a:solidFill>
                <a:latin typeface="Arial" panose="020B0604020202020204"/>
                <a:ea typeface="+mn-ea"/>
                <a:cs typeface="+mn-cs"/>
              </a:defRPr>
            </a:pPr>
            <a:endParaRPr lang="es-CO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 cmpd="sng" algn="ctr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es-ES" sz="1200" b="0" i="0" u="none" strike="noStrike" kern="1200" baseline="0">
                <a:solidFill>
                  <a:srgbClr val="64748B"/>
                </a:solidFill>
                <a:latin typeface="Arial" panose="020B0604020202020204"/>
                <a:ea typeface="+mn-ea"/>
                <a:cs typeface="+mn-cs"/>
              </a:defRPr>
            </a:pPr>
            <a:endParaRPr lang="es-CO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0"/>
    <c:extLst>
      <c:ext uri="{0b15fc19-7d7d-44ad-8c2d-2c3a37ce22c3}">
        <chartProps xmlns="https://web.wps.cn/et/2018/main" chartId="{9796698e-0ff6-4f89-afb8-54c2a8d076d1}"/>
      </c:ext>
    </c:extLst>
  </c:chart>
  <c:spPr>
    <a:solidFill>
      <a:srgbClr val="FFFFFF"/>
    </a:solidFill>
    <a:ln>
      <a:noFill/>
    </a:ln>
    <a:effectLst/>
  </c:spPr>
  <c:txPr>
    <a:bodyPr/>
    <a:lstStyle/>
    <a:p>
      <a:pPr>
        <a:defRPr lang="es-ES"/>
      </a:pPr>
      <a:endParaRPr lang="es-CO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0" vertOverflow="ellipsis" vert="horz" wrap="square" anchor="ctr" anchorCtr="1"/>
          <a:lstStyle/>
          <a:p>
            <a:pPr>
              <a:defRPr lang="es-ES" sz="1100" b="0" i="0" u="none" strike="noStrike" kern="1200" baseline="0">
                <a:solidFill>
                  <a:srgbClr val="1A2340"/>
                </a:solidFill>
                <a:latin typeface="Arial" panose="020B0604020202020204"/>
                <a:ea typeface="+mn-ea"/>
                <a:cs typeface="+mn-cs"/>
              </a:defRPr>
            </a:pPr>
            <a:r>
              <a:rPr lang="es-CO" sz="1100" b="0" i="0" u="none" strike="noStrike">
                <a:solidFill>
                  <a:srgbClr val="1A2340"/>
                </a:solidFill>
                <a:latin typeface="Arial" panose="020B0604020202020204"/>
              </a:rPr>
              <a:t>Tiempo de entrenamiento (segundos)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Tiempo (s)</c:v>
                </c:pt>
              </c:strCache>
            </c:strRef>
          </c:tx>
          <c:spPr>
            <a:solidFill>
              <a:srgbClr val="F97316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C8EA-46B9-8D3A-873A01D0EA07}"/>
              </c:ext>
            </c:extLst>
          </c:dPt>
          <c:dPt>
            <c:idx val="1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3-C8EA-46B9-8D3A-873A01D0EA07}"/>
              </c:ext>
            </c:extLst>
          </c:dPt>
          <c:dPt>
            <c:idx val="2"/>
            <c:invertIfNegative val="0"/>
            <c:bubble3D val="0"/>
            <c:spPr>
              <a:solidFill>
                <a:srgbClr val="00B4D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C8EA-46B9-8D3A-873A01D0EA07}"/>
              </c:ext>
            </c:extLst>
          </c:dPt>
          <c:dPt>
            <c:idx val="3"/>
            <c:invertIfNegative val="0"/>
            <c:bubble3D val="0"/>
            <c:spPr>
              <a:solidFill>
                <a:srgbClr val="10B98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C8EA-46B9-8D3A-873A01D0EA07}"/>
              </c:ext>
            </c:extLst>
          </c:dPt>
          <c:dPt>
            <c:idx val="4"/>
            <c:invertIfNegative val="0"/>
            <c:bubble3D val="0"/>
            <c:spPr>
              <a:solidFill>
                <a:srgbClr val="10B98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C8EA-46B9-8D3A-873A01D0EA07}"/>
              </c:ext>
            </c:extLst>
          </c:dPt>
          <c:dPt>
            <c:idx val="5"/>
            <c:invertIfNegative val="0"/>
            <c:bubble3D val="0"/>
            <c:spPr>
              <a:solidFill>
                <a:srgbClr val="10B98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C8EA-46B9-8D3A-873A01D0EA07}"/>
              </c:ext>
            </c:extLst>
          </c:dPt>
          <c:dPt>
            <c:idx val="6"/>
            <c:invertIfNegative val="0"/>
            <c:bubble3D val="0"/>
            <c:spPr>
              <a:solidFill>
                <a:srgbClr val="10B98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D-C8EA-46B9-8D3A-873A01D0EA07}"/>
              </c:ext>
            </c:extLst>
          </c:dPt>
          <c:dPt>
            <c:idx val="7"/>
            <c:invertIfNegative val="0"/>
            <c:bubble3D val="0"/>
            <c:spPr>
              <a:solidFill>
                <a:srgbClr val="10B98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F-C8EA-46B9-8D3A-873A01D0EA07}"/>
              </c:ext>
            </c:extLst>
          </c:dPt>
          <c:dPt>
            <c:idx val="8"/>
            <c:invertIfNegative val="0"/>
            <c:bubble3D val="0"/>
            <c:spPr>
              <a:solidFill>
                <a:srgbClr val="10B98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11-C8EA-46B9-8D3A-873A01D0EA07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s-ES" sz="800" b="0" i="0" u="none" strike="noStrike" kern="1200" baseline="0">
                    <a:solidFill>
                      <a:srgbClr val="1E293B"/>
                    </a:solidFill>
                    <a:latin typeface="Arial" panose="020B0604020202020204"/>
                    <a:ea typeface="+mn-ea"/>
                    <a:cs typeface="+mn-cs"/>
                  </a:defRPr>
                </a:pPr>
                <a:endParaRPr lang="es-CO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Sheet1!$A$2:$A$10</c:f>
              <c:strCache>
                <c:ptCount val="9"/>
                <c:pt idx="0">
                  <c:v>RandomForest</c:v>
                </c:pt>
                <c:pt idx="1">
                  <c:v>ExtraTrees</c:v>
                </c:pt>
                <c:pt idx="2">
                  <c:v>GradientBoosting</c:v>
                </c:pt>
                <c:pt idx="3">
                  <c:v>LinearRegression</c:v>
                </c:pt>
                <c:pt idx="4">
                  <c:v>Ridge</c:v>
                </c:pt>
                <c:pt idx="5">
                  <c:v>KNN</c:v>
                </c:pt>
                <c:pt idx="6">
                  <c:v>ElasticNet</c:v>
                </c:pt>
                <c:pt idx="7">
                  <c:v>Lasso</c:v>
                </c:pt>
                <c:pt idx="8">
                  <c:v>DecisionTree</c:v>
                </c:pt>
              </c:strCache>
            </c: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5.99</c:v>
                </c:pt>
                <c:pt idx="1">
                  <c:v>3.96</c:v>
                </c:pt>
                <c:pt idx="2">
                  <c:v>1.71</c:v>
                </c:pt>
                <c:pt idx="3">
                  <c:v>0.2</c:v>
                </c:pt>
                <c:pt idx="4">
                  <c:v>0.05</c:v>
                </c:pt>
                <c:pt idx="5">
                  <c:v>0</c:v>
                </c:pt>
                <c:pt idx="6">
                  <c:v>0.05</c:v>
                </c:pt>
                <c:pt idx="7">
                  <c:v>0.06</c:v>
                </c:pt>
                <c:pt idx="8">
                  <c:v>0.16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2-C8EA-46B9-8D3A-873A01D0EA07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es-ES" sz="1200" b="0" i="0" u="none" strike="noStrike" kern="1200" baseline="0">
                <a:solidFill>
                  <a:srgbClr val="334155"/>
                </a:solidFill>
                <a:latin typeface="Arial" panose="020B0604020202020204"/>
                <a:ea typeface="+mn-ea"/>
                <a:cs typeface="+mn-cs"/>
              </a:defRPr>
            </a:pPr>
            <a:endParaRPr lang="es-CO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 cmpd="sng" algn="ctr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es-ES" sz="1200" b="0" i="0" u="none" strike="noStrike" kern="1200" baseline="0">
                <a:solidFill>
                  <a:srgbClr val="64748B"/>
                </a:solidFill>
                <a:latin typeface="Arial" panose="020B0604020202020204"/>
                <a:ea typeface="+mn-ea"/>
                <a:cs typeface="+mn-cs"/>
              </a:defRPr>
            </a:pPr>
            <a:endParaRPr lang="es-CO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0"/>
    <c:extLst>
      <c:ext uri="{0b15fc19-7d7d-44ad-8c2d-2c3a37ce22c3}">
        <chartProps xmlns="https://web.wps.cn/et/2018/main" chartId="{fafc0be5-7017-42c5-a9be-1939a7c10938}"/>
      </c:ext>
    </c:extLst>
  </c:chart>
  <c:spPr>
    <a:solidFill>
      <a:srgbClr val="FFFFFF"/>
    </a:solidFill>
    <a:ln>
      <a:noFill/>
    </a:ln>
    <a:effectLst/>
  </c:spPr>
  <c:txPr>
    <a:bodyPr/>
    <a:lstStyle/>
    <a:p>
      <a:pPr>
        <a:defRPr lang="es-ES"/>
      </a:pPr>
      <a:endParaRPr lang="es-CO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0" vertOverflow="ellipsis" vert="horz" wrap="square" anchor="ctr" anchorCtr="1"/>
          <a:lstStyle/>
          <a:p>
            <a:pPr>
              <a:defRPr lang="es-ES" sz="1100" b="0" i="0" u="none" strike="noStrike" kern="1200" baseline="0">
                <a:solidFill>
                  <a:srgbClr val="1A2340"/>
                </a:solidFill>
                <a:latin typeface="Arial" panose="020B0604020202020204"/>
                <a:ea typeface="+mn-ea"/>
                <a:cs typeface="+mn-cs"/>
              </a:defRPr>
            </a:pPr>
            <a:r>
              <a:rPr lang="es-MX" sz="1100" b="0" i="0" u="none" strike="noStrike">
                <a:solidFill>
                  <a:srgbClr val="1A2340"/>
                </a:solidFill>
                <a:latin typeface="Arial" panose="020B0604020202020204"/>
              </a:rPr>
              <a:t>Score combinado (mayor = mejor equilibrio)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Score</c:v>
                </c:pt>
              </c:strCache>
            </c:strRef>
          </c:tx>
          <c:spPr>
            <a:solidFill>
              <a:srgbClr val="0D6E46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CB01-436A-A4F8-81048515495E}"/>
              </c:ext>
            </c:extLst>
          </c:dPt>
          <c:dPt>
            <c:idx val="1"/>
            <c:invertIfNegative val="0"/>
            <c:bubble3D val="0"/>
            <c:spPr>
              <a:solidFill>
                <a:srgbClr val="10B98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CB01-436A-A4F8-81048515495E}"/>
              </c:ext>
            </c:extLst>
          </c:dPt>
          <c:dPt>
            <c:idx val="2"/>
            <c:invertIfNegative val="0"/>
            <c:bubble3D val="0"/>
            <c:spPr>
              <a:solidFill>
                <a:srgbClr val="10B98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CB01-436A-A4F8-81048515495E}"/>
              </c:ext>
            </c:extLst>
          </c:dPt>
          <c:dPt>
            <c:idx val="3"/>
            <c:invertIfNegative val="0"/>
            <c:bubble3D val="0"/>
            <c:spPr>
              <a:solidFill>
                <a:srgbClr val="00B4D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CB01-436A-A4F8-81048515495E}"/>
              </c:ext>
            </c:extLst>
          </c:dPt>
          <c:dPt>
            <c:idx val="4"/>
            <c:invertIfNegative val="0"/>
            <c:bubble3D val="0"/>
            <c:spPr>
              <a:solidFill>
                <a:srgbClr val="00B4D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CB01-436A-A4F8-81048515495E}"/>
              </c:ext>
            </c:extLst>
          </c:dPt>
          <c:dPt>
            <c:idx val="5"/>
            <c:invertIfNegative val="0"/>
            <c:bubble3D val="0"/>
            <c:spPr>
              <a:solidFill>
                <a:srgbClr val="94A3B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CB01-436A-A4F8-81048515495E}"/>
              </c:ext>
            </c:extLst>
          </c:dPt>
          <c:dPt>
            <c:idx val="6"/>
            <c:invertIfNegative val="0"/>
            <c:bubble3D val="0"/>
            <c:spPr>
              <a:solidFill>
                <a:srgbClr val="94A3B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D-CB01-436A-A4F8-81048515495E}"/>
              </c:ext>
            </c:extLst>
          </c:dPt>
          <c:dPt>
            <c:idx val="7"/>
            <c:invertIfNegative val="0"/>
            <c:bubble3D val="0"/>
            <c:spPr>
              <a:solidFill>
                <a:srgbClr val="00B4D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F-CB01-436A-A4F8-81048515495E}"/>
              </c:ext>
            </c:extLst>
          </c:dPt>
          <c:dPt>
            <c:idx val="8"/>
            <c:invertIfNegative val="0"/>
            <c:bubble3D val="0"/>
            <c:spPr>
              <a:solidFill>
                <a:srgbClr val="94A3B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11-CB01-436A-A4F8-81048515495E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s-ES" sz="900" b="0" i="0" u="none" strike="noStrike" kern="1200" baseline="0">
                    <a:solidFill>
                      <a:srgbClr val="1E293B"/>
                    </a:solidFill>
                    <a:latin typeface="Arial" panose="020B0604020202020204"/>
                    <a:ea typeface="+mn-ea"/>
                    <a:cs typeface="+mn-cs"/>
                  </a:defRPr>
                </a:pPr>
                <a:endParaRPr lang="es-CO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Sheet1!$A$2:$A$10</c:f>
              <c:strCache>
                <c:ptCount val="9"/>
                <c:pt idx="0">
                  <c:v>GradientBoosting</c:v>
                </c:pt>
                <c:pt idx="1">
                  <c:v>RandomForest</c:v>
                </c:pt>
                <c:pt idx="2">
                  <c:v>ExtraTrees</c:v>
                </c:pt>
                <c:pt idx="3">
                  <c:v>LinearRegression</c:v>
                </c:pt>
                <c:pt idx="4">
                  <c:v>Ridge</c:v>
                </c:pt>
                <c:pt idx="5">
                  <c:v>ElasticNet</c:v>
                </c:pt>
                <c:pt idx="6">
                  <c:v>Lasso</c:v>
                </c:pt>
                <c:pt idx="7">
                  <c:v>KNN</c:v>
                </c:pt>
                <c:pt idx="8">
                  <c:v>DecisionTree</c:v>
                </c:pt>
              </c:strCache>
            </c: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0.80130000000000001</c:v>
                </c:pt>
                <c:pt idx="1">
                  <c:v>0.7802</c:v>
                </c:pt>
                <c:pt idx="2">
                  <c:v>0.75649999999999995</c:v>
                </c:pt>
                <c:pt idx="3">
                  <c:v>0.7016</c:v>
                </c:pt>
                <c:pt idx="4">
                  <c:v>0.70150000000000001</c:v>
                </c:pt>
                <c:pt idx="5">
                  <c:v>0.68930000000000002</c:v>
                </c:pt>
                <c:pt idx="6">
                  <c:v>0.67279999999999995</c:v>
                </c:pt>
                <c:pt idx="7">
                  <c:v>0.66759999999999997</c:v>
                </c:pt>
                <c:pt idx="8">
                  <c:v>0.57489999999999997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2-CB01-436A-A4F8-81048515495E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es-ES" sz="1200" b="0" i="0" u="none" strike="noStrike" kern="1200" baseline="0">
                <a:solidFill>
                  <a:srgbClr val="334155"/>
                </a:solidFill>
                <a:latin typeface="Arial" panose="020B0604020202020204"/>
                <a:ea typeface="+mn-ea"/>
                <a:cs typeface="+mn-cs"/>
              </a:defRPr>
            </a:pPr>
            <a:endParaRPr lang="es-CO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in val="0.6"/>
        </c:scaling>
        <c:delete val="0"/>
        <c:axPos val="b"/>
        <c:majorGridlines>
          <c:spPr>
            <a:ln w="6350" cap="flat" cmpd="sng" algn="ctr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es-ES" sz="1200" b="0" i="0" u="none" strike="noStrike" kern="1200" baseline="0">
                <a:solidFill>
                  <a:srgbClr val="64748B"/>
                </a:solidFill>
                <a:latin typeface="Arial" panose="020B0604020202020204"/>
                <a:ea typeface="+mn-ea"/>
                <a:cs typeface="+mn-cs"/>
              </a:defRPr>
            </a:pPr>
            <a:endParaRPr lang="es-CO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0"/>
    <c:extLst>
      <c:ext uri="{0b15fc19-7d7d-44ad-8c2d-2c3a37ce22c3}">
        <chartProps xmlns="https://web.wps.cn/et/2018/main" chartId="{f8bae70d-5d11-4f1f-9658-ed17024a7b54}"/>
      </c:ext>
    </c:extLst>
  </c:chart>
  <c:spPr>
    <a:solidFill>
      <a:srgbClr val="FFFFFF"/>
    </a:solidFill>
    <a:ln>
      <a:noFill/>
    </a:ln>
    <a:effectLst/>
  </c:spPr>
  <c:txPr>
    <a:bodyPr/>
    <a:lstStyle/>
    <a:p>
      <a:pPr>
        <a:defRPr lang="es-ES"/>
      </a:pPr>
      <a:endParaRPr lang="es-CO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0" vertOverflow="ellipsis" vert="horz" wrap="square" anchor="ctr" anchorCtr="1"/>
          <a:lstStyle/>
          <a:p>
            <a:pPr>
              <a:defRPr lang="es-ES" sz="1100" b="0" i="0" u="none" strike="noStrike" kern="1200" baseline="0">
                <a:solidFill>
                  <a:srgbClr val="1A2340"/>
                </a:solidFill>
                <a:latin typeface="Arial" panose="020B0604020202020204"/>
                <a:ea typeface="+mn-ea"/>
                <a:cs typeface="+mn-cs"/>
              </a:defRPr>
            </a:pPr>
            <a:r>
              <a:rPr lang="es-CO" sz="1100" b="0" i="0" u="none" strike="noStrike">
                <a:solidFill>
                  <a:srgbClr val="1A2340"/>
                </a:solidFill>
                <a:latin typeface="Arial" panose="020B0604020202020204"/>
              </a:rPr>
              <a:t>Gap de overfitting |R²_train − R²_test|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Gap Overfit</c:v>
                </c:pt>
              </c:strCache>
            </c:strRef>
          </c:tx>
          <c:spPr>
            <a:solidFill>
              <a:srgbClr val="F59E0B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C456-4201-969F-AA65EDB03B9B}"/>
              </c:ext>
            </c:extLst>
          </c:dPt>
          <c:dPt>
            <c:idx val="1"/>
            <c:invertIfNegative val="0"/>
            <c:bubble3D val="0"/>
            <c:spPr>
              <a:solidFill>
                <a:srgbClr val="EF4444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C456-4201-969F-AA65EDB03B9B}"/>
              </c:ext>
            </c:extLst>
          </c:dPt>
          <c:dPt>
            <c:idx val="2"/>
            <c:invertIfNegative val="0"/>
            <c:bubble3D val="0"/>
            <c:spPr>
              <a:solidFill>
                <a:srgbClr val="10B98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C456-4201-969F-AA65EDB03B9B}"/>
              </c:ext>
            </c:extLst>
          </c:dPt>
          <c:dPt>
            <c:idx val="3"/>
            <c:invertIfNegative val="0"/>
            <c:bubble3D val="0"/>
            <c:spPr>
              <a:solidFill>
                <a:srgbClr val="10B98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C456-4201-969F-AA65EDB03B9B}"/>
              </c:ext>
            </c:extLst>
          </c:dPt>
          <c:dPt>
            <c:idx val="4"/>
            <c:invertIfNegative val="0"/>
            <c:bubble3D val="0"/>
            <c:spPr>
              <a:solidFill>
                <a:srgbClr val="10B98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C456-4201-969F-AA65EDB03B9B}"/>
              </c:ext>
            </c:extLst>
          </c:dPt>
          <c:dPt>
            <c:idx val="5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B-C456-4201-969F-AA65EDB03B9B}"/>
              </c:ext>
            </c:extLst>
          </c:dPt>
          <c:dPt>
            <c:idx val="6"/>
            <c:invertIfNegative val="0"/>
            <c:bubble3D val="0"/>
            <c:spPr>
              <a:solidFill>
                <a:srgbClr val="10B98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D-C456-4201-969F-AA65EDB03B9B}"/>
              </c:ext>
            </c:extLst>
          </c:dPt>
          <c:dPt>
            <c:idx val="7"/>
            <c:invertIfNegative val="0"/>
            <c:bubble3D val="0"/>
            <c:spPr>
              <a:solidFill>
                <a:srgbClr val="10B98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F-C456-4201-969F-AA65EDB03B9B}"/>
              </c:ext>
            </c:extLst>
          </c:dPt>
          <c:dPt>
            <c:idx val="8"/>
            <c:invertIfNegative val="0"/>
            <c:bubble3D val="0"/>
            <c:spPr>
              <a:solidFill>
                <a:srgbClr val="EF4444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11-C456-4201-969F-AA65EDB03B9B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s-ES" sz="800" b="0" i="0" u="none" strike="noStrike" kern="1200" baseline="0">
                    <a:solidFill>
                      <a:srgbClr val="1E293B"/>
                    </a:solidFill>
                    <a:latin typeface="Arial" panose="020B0604020202020204"/>
                    <a:ea typeface="+mn-ea"/>
                    <a:cs typeface="+mn-cs"/>
                  </a:defRPr>
                </a:pPr>
                <a:endParaRPr lang="es-CO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Sheet1!$A$2:$A$10</c:f>
              <c:strCache>
                <c:ptCount val="9"/>
                <c:pt idx="0">
                  <c:v>RandomForest</c:v>
                </c:pt>
                <c:pt idx="1">
                  <c:v>ExtraTrees</c:v>
                </c:pt>
                <c:pt idx="2">
                  <c:v>GradientBoosting</c:v>
                </c:pt>
                <c:pt idx="3">
                  <c:v>LinearRegression</c:v>
                </c:pt>
                <c:pt idx="4">
                  <c:v>Ridge</c:v>
                </c:pt>
                <c:pt idx="5">
                  <c:v>KNN</c:v>
                </c:pt>
                <c:pt idx="6">
                  <c:v>ElasticNet</c:v>
                </c:pt>
                <c:pt idx="7">
                  <c:v>Lasso</c:v>
                </c:pt>
                <c:pt idx="8">
                  <c:v>DecisionTree</c:v>
                </c:pt>
              </c:strCache>
            </c: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0.13780000000000001</c:v>
                </c:pt>
                <c:pt idx="1">
                  <c:v>0.18010000000000001</c:v>
                </c:pt>
                <c:pt idx="2">
                  <c:v>8.6999999999999994E-3</c:v>
                </c:pt>
                <c:pt idx="3">
                  <c:v>9.4999999999999998E-3</c:v>
                </c:pt>
                <c:pt idx="4">
                  <c:v>9.5999999999999992E-3</c:v>
                </c:pt>
                <c:pt idx="5">
                  <c:v>9.0899999999999995E-2</c:v>
                </c:pt>
                <c:pt idx="6">
                  <c:v>9.4000000000000004E-3</c:v>
                </c:pt>
                <c:pt idx="7">
                  <c:v>8.3999999999999995E-3</c:v>
                </c:pt>
                <c:pt idx="8">
                  <c:v>0.30159999999999998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2-C456-4201-969F-AA65EDB03B9B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es-ES" sz="1200" b="0" i="0" u="none" strike="noStrike" kern="1200" baseline="0">
                <a:solidFill>
                  <a:srgbClr val="334155"/>
                </a:solidFill>
                <a:latin typeface="Arial" panose="020B0604020202020204"/>
                <a:ea typeface="+mn-ea"/>
                <a:cs typeface="+mn-cs"/>
              </a:defRPr>
            </a:pPr>
            <a:endParaRPr lang="es-CO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 cmpd="sng" algn="ctr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es-ES" sz="1200" b="0" i="0" u="none" strike="noStrike" kern="1200" baseline="0">
                <a:solidFill>
                  <a:srgbClr val="64748B"/>
                </a:solidFill>
                <a:latin typeface="Arial" panose="020B0604020202020204"/>
                <a:ea typeface="+mn-ea"/>
                <a:cs typeface="+mn-cs"/>
              </a:defRPr>
            </a:pPr>
            <a:endParaRPr lang="es-CO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0"/>
    <c:extLst>
      <c:ext uri="{0b15fc19-7d7d-44ad-8c2d-2c3a37ce22c3}">
        <chartProps xmlns="https://web.wps.cn/et/2018/main" chartId="{9796698e-0ff6-4f89-afb8-54c2a8d076d1}"/>
      </c:ext>
    </c:extLst>
  </c:chart>
  <c:spPr>
    <a:solidFill>
      <a:srgbClr val="FFFFFF"/>
    </a:solidFill>
    <a:ln>
      <a:noFill/>
    </a:ln>
    <a:effectLst/>
  </c:spPr>
  <c:txPr>
    <a:bodyPr/>
    <a:lstStyle/>
    <a:p>
      <a:pPr>
        <a:defRPr lang="es-ES"/>
      </a:pPr>
      <a:endParaRPr lang="es-CO"/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0" vertOverflow="ellipsis" vert="horz" wrap="square" anchor="ctr" anchorCtr="1"/>
          <a:lstStyle/>
          <a:p>
            <a:pPr>
              <a:defRPr lang="es-ES" sz="1100" b="0" i="0" u="none" strike="noStrike" kern="1200" baseline="0">
                <a:solidFill>
                  <a:srgbClr val="1A2340"/>
                </a:solidFill>
                <a:latin typeface="Arial" panose="020B0604020202020204"/>
                <a:ea typeface="+mn-ea"/>
                <a:cs typeface="+mn-cs"/>
              </a:defRPr>
            </a:pPr>
            <a:r>
              <a:rPr lang="es-CO" sz="1100" b="0" i="0" u="none" strike="noStrike">
                <a:solidFill>
                  <a:srgbClr val="1A2340"/>
                </a:solidFill>
                <a:latin typeface="Arial" panose="020B0604020202020204"/>
              </a:rPr>
              <a:t>Tiempo de entrenamiento (segundos)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Tiempo (s)</c:v>
                </c:pt>
              </c:strCache>
            </c:strRef>
          </c:tx>
          <c:spPr>
            <a:solidFill>
              <a:srgbClr val="F97316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1097-40CD-B70E-D95DC2453854}"/>
              </c:ext>
            </c:extLst>
          </c:dPt>
          <c:dPt>
            <c:idx val="1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3-1097-40CD-B70E-D95DC2453854}"/>
              </c:ext>
            </c:extLst>
          </c:dPt>
          <c:dPt>
            <c:idx val="2"/>
            <c:invertIfNegative val="0"/>
            <c:bubble3D val="0"/>
            <c:spPr>
              <a:solidFill>
                <a:srgbClr val="00B4D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1097-40CD-B70E-D95DC2453854}"/>
              </c:ext>
            </c:extLst>
          </c:dPt>
          <c:dPt>
            <c:idx val="3"/>
            <c:invertIfNegative val="0"/>
            <c:bubble3D val="0"/>
            <c:spPr>
              <a:solidFill>
                <a:srgbClr val="10B98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1097-40CD-B70E-D95DC2453854}"/>
              </c:ext>
            </c:extLst>
          </c:dPt>
          <c:dPt>
            <c:idx val="4"/>
            <c:invertIfNegative val="0"/>
            <c:bubble3D val="0"/>
            <c:spPr>
              <a:solidFill>
                <a:srgbClr val="10B98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1097-40CD-B70E-D95DC2453854}"/>
              </c:ext>
            </c:extLst>
          </c:dPt>
          <c:dPt>
            <c:idx val="5"/>
            <c:invertIfNegative val="0"/>
            <c:bubble3D val="0"/>
            <c:spPr>
              <a:solidFill>
                <a:srgbClr val="10B98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1097-40CD-B70E-D95DC2453854}"/>
              </c:ext>
            </c:extLst>
          </c:dPt>
          <c:dPt>
            <c:idx val="6"/>
            <c:invertIfNegative val="0"/>
            <c:bubble3D val="0"/>
            <c:spPr>
              <a:solidFill>
                <a:srgbClr val="10B98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D-1097-40CD-B70E-D95DC2453854}"/>
              </c:ext>
            </c:extLst>
          </c:dPt>
          <c:dPt>
            <c:idx val="7"/>
            <c:invertIfNegative val="0"/>
            <c:bubble3D val="0"/>
            <c:spPr>
              <a:solidFill>
                <a:srgbClr val="10B98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F-1097-40CD-B70E-D95DC2453854}"/>
              </c:ext>
            </c:extLst>
          </c:dPt>
          <c:dPt>
            <c:idx val="8"/>
            <c:invertIfNegative val="0"/>
            <c:bubble3D val="0"/>
            <c:spPr>
              <a:solidFill>
                <a:srgbClr val="10B98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11-1097-40CD-B70E-D95DC2453854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s-ES" sz="800" b="0" i="0" u="none" strike="noStrike" kern="1200" baseline="0">
                    <a:solidFill>
                      <a:srgbClr val="1E293B"/>
                    </a:solidFill>
                    <a:latin typeface="Arial" panose="020B0604020202020204"/>
                    <a:ea typeface="+mn-ea"/>
                    <a:cs typeface="+mn-cs"/>
                  </a:defRPr>
                </a:pPr>
                <a:endParaRPr lang="es-CO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Sheet1!$A$2:$A$10</c:f>
              <c:strCache>
                <c:ptCount val="9"/>
                <c:pt idx="0">
                  <c:v>RandomForest</c:v>
                </c:pt>
                <c:pt idx="1">
                  <c:v>ExtraTrees</c:v>
                </c:pt>
                <c:pt idx="2">
                  <c:v>GradientBoosting</c:v>
                </c:pt>
                <c:pt idx="3">
                  <c:v>LinearRegression</c:v>
                </c:pt>
                <c:pt idx="4">
                  <c:v>Ridge</c:v>
                </c:pt>
                <c:pt idx="5">
                  <c:v>KNN</c:v>
                </c:pt>
                <c:pt idx="6">
                  <c:v>ElasticNet</c:v>
                </c:pt>
                <c:pt idx="7">
                  <c:v>Lasso</c:v>
                </c:pt>
                <c:pt idx="8">
                  <c:v>DecisionTree</c:v>
                </c:pt>
              </c:strCache>
            </c: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5.99</c:v>
                </c:pt>
                <c:pt idx="1">
                  <c:v>3.96</c:v>
                </c:pt>
                <c:pt idx="2">
                  <c:v>1.71</c:v>
                </c:pt>
                <c:pt idx="3">
                  <c:v>0.2</c:v>
                </c:pt>
                <c:pt idx="4">
                  <c:v>0.05</c:v>
                </c:pt>
                <c:pt idx="5">
                  <c:v>0</c:v>
                </c:pt>
                <c:pt idx="6">
                  <c:v>0.05</c:v>
                </c:pt>
                <c:pt idx="7">
                  <c:v>0.06</c:v>
                </c:pt>
                <c:pt idx="8">
                  <c:v>0.16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2-1097-40CD-B70E-D95DC2453854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es-ES" sz="1200" b="0" i="0" u="none" strike="noStrike" kern="1200" baseline="0">
                <a:solidFill>
                  <a:srgbClr val="334155"/>
                </a:solidFill>
                <a:latin typeface="Arial" panose="020B0604020202020204"/>
                <a:ea typeface="+mn-ea"/>
                <a:cs typeface="+mn-cs"/>
              </a:defRPr>
            </a:pPr>
            <a:endParaRPr lang="es-CO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 cmpd="sng" algn="ctr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es-ES" sz="1200" b="0" i="0" u="none" strike="noStrike" kern="1200" baseline="0">
                <a:solidFill>
                  <a:srgbClr val="64748B"/>
                </a:solidFill>
                <a:latin typeface="Arial" panose="020B0604020202020204"/>
                <a:ea typeface="+mn-ea"/>
                <a:cs typeface="+mn-cs"/>
              </a:defRPr>
            </a:pPr>
            <a:endParaRPr lang="es-CO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0"/>
    <c:extLst>
      <c:ext uri="{0b15fc19-7d7d-44ad-8c2d-2c3a37ce22c3}">
        <chartProps xmlns="https://web.wps.cn/et/2018/main" chartId="{fafc0be5-7017-42c5-a9be-1939a7c10938}"/>
      </c:ext>
    </c:extLst>
  </c:chart>
  <c:spPr>
    <a:solidFill>
      <a:srgbClr val="FFFFFF"/>
    </a:solidFill>
    <a:ln>
      <a:noFill/>
    </a:ln>
    <a:effectLst/>
  </c:spPr>
  <c:txPr>
    <a:bodyPr/>
    <a:lstStyle/>
    <a:p>
      <a:pPr>
        <a:defRPr lang="es-ES"/>
      </a:pPr>
      <a:endParaRPr lang="es-CO"/>
    </a:p>
  </c:tx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0" vertOverflow="ellipsis" vert="horz" wrap="square" anchor="ctr" anchorCtr="1"/>
          <a:lstStyle/>
          <a:p>
            <a:pPr>
              <a:defRPr lang="es-ES" sz="1200" b="0" i="0" u="none" strike="noStrike" kern="1200" baseline="0">
                <a:solidFill>
                  <a:srgbClr val="1A2340"/>
                </a:solidFill>
                <a:latin typeface="Arial" panose="020B0604020202020204"/>
                <a:ea typeface="+mn-ea"/>
                <a:cs typeface="+mn-cs"/>
              </a:defRPr>
            </a:pPr>
            <a:r>
              <a:rPr lang="es-CO" sz="1200" b="0" i="0" u="none" strike="noStrike">
                <a:solidFill>
                  <a:srgbClr val="1A2340"/>
                </a:solidFill>
                <a:latin typeface="Arial" panose="020B0604020202020204"/>
              </a:rPr>
              <a:t>R² promedio CV 5-fold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R² CV</c:v>
                </c:pt>
              </c:strCache>
            </c:strRef>
          </c:tx>
          <c:spPr>
            <a:solidFill>
              <a:srgbClr val="10B981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B1F9-4CB5-9663-D904AD1CE264}"/>
              </c:ext>
            </c:extLst>
          </c:dPt>
          <c:dPt>
            <c:idx val="1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3-B1F9-4CB5-9663-D904AD1CE264}"/>
              </c:ext>
            </c:extLst>
          </c:dPt>
          <c:dPt>
            <c:idx val="2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5-B1F9-4CB5-9663-D904AD1CE264}"/>
              </c:ext>
            </c:extLst>
          </c:dPt>
          <c:dPt>
            <c:idx val="3"/>
            <c:invertIfNegative val="0"/>
            <c:bubble3D val="0"/>
            <c:spPr>
              <a:solidFill>
                <a:srgbClr val="00B4D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B1F9-4CB5-9663-D904AD1CE264}"/>
              </c:ext>
            </c:extLst>
          </c:dPt>
          <c:dPt>
            <c:idx val="4"/>
            <c:invertIfNegative val="0"/>
            <c:bubble3D val="0"/>
            <c:spPr>
              <a:solidFill>
                <a:srgbClr val="00B4D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B1F9-4CB5-9663-D904AD1CE264}"/>
              </c:ext>
            </c:extLst>
          </c:dPt>
          <c:dPt>
            <c:idx val="5"/>
            <c:invertIfNegative val="0"/>
            <c:bubble3D val="0"/>
            <c:spPr>
              <a:solidFill>
                <a:srgbClr val="00B4D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B1F9-4CB5-9663-D904AD1CE264}"/>
              </c:ext>
            </c:extLst>
          </c:dPt>
          <c:dPt>
            <c:idx val="6"/>
            <c:invertIfNegative val="0"/>
            <c:bubble3D val="0"/>
            <c:spPr>
              <a:solidFill>
                <a:srgbClr val="94A3B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D-B1F9-4CB5-9663-D904AD1CE264}"/>
              </c:ext>
            </c:extLst>
          </c:dPt>
          <c:dPt>
            <c:idx val="7"/>
            <c:invertIfNegative val="0"/>
            <c:bubble3D val="0"/>
            <c:spPr>
              <a:solidFill>
                <a:srgbClr val="94A3B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F-B1F9-4CB5-9663-D904AD1CE264}"/>
              </c:ext>
            </c:extLst>
          </c:dPt>
          <c:dPt>
            <c:idx val="8"/>
            <c:invertIfNegative val="0"/>
            <c:bubble3D val="0"/>
            <c:spPr>
              <a:solidFill>
                <a:srgbClr val="94A3B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11-B1F9-4CB5-9663-D904AD1CE264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s-ES" sz="900" b="0" i="0" u="none" strike="noStrike" kern="1200" baseline="0">
                    <a:solidFill>
                      <a:srgbClr val="1E293B"/>
                    </a:solidFill>
                    <a:latin typeface="Arial" panose="020B0604020202020204"/>
                    <a:ea typeface="+mn-ea"/>
                    <a:cs typeface="+mn-cs"/>
                  </a:defRPr>
                </a:pPr>
                <a:endParaRPr lang="es-CO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Sheet1!$A$2:$A$10</c:f>
              <c:strCache>
                <c:ptCount val="9"/>
                <c:pt idx="0">
                  <c:v>RandomForest</c:v>
                </c:pt>
                <c:pt idx="1">
                  <c:v>ExtraTrees</c:v>
                </c:pt>
                <c:pt idx="2">
                  <c:v>GradientBoosting</c:v>
                </c:pt>
                <c:pt idx="3">
                  <c:v>LinearRegression</c:v>
                </c:pt>
                <c:pt idx="4">
                  <c:v>Ridge</c:v>
                </c:pt>
                <c:pt idx="5">
                  <c:v>KNN</c:v>
                </c:pt>
                <c:pt idx="6">
                  <c:v>ElasticNet</c:v>
                </c:pt>
                <c:pt idx="7">
                  <c:v>Lasso</c:v>
                </c:pt>
                <c:pt idx="8">
                  <c:v>DecisionTree</c:v>
                </c:pt>
              </c:strCache>
            </c: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0.82869999999999999</c:v>
                </c:pt>
                <c:pt idx="1">
                  <c:v>0.81789999999999996</c:v>
                </c:pt>
                <c:pt idx="2">
                  <c:v>0.81310000000000004</c:v>
                </c:pt>
                <c:pt idx="3">
                  <c:v>0.71</c:v>
                </c:pt>
                <c:pt idx="4">
                  <c:v>0.71</c:v>
                </c:pt>
                <c:pt idx="5">
                  <c:v>0.70450000000000002</c:v>
                </c:pt>
                <c:pt idx="6">
                  <c:v>0.6986</c:v>
                </c:pt>
                <c:pt idx="7">
                  <c:v>0.68289999999999995</c:v>
                </c:pt>
                <c:pt idx="8">
                  <c:v>0.67589999999999995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2-B1F9-4CB5-9663-D904AD1CE264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es-ES" sz="1200" b="0" i="0" u="none" strike="noStrike" kern="1200" baseline="0">
                <a:solidFill>
                  <a:srgbClr val="334155"/>
                </a:solidFill>
                <a:latin typeface="Arial" panose="020B0604020202020204"/>
                <a:ea typeface="+mn-ea"/>
                <a:cs typeface="+mn-cs"/>
              </a:defRPr>
            </a:pPr>
            <a:endParaRPr lang="es-CO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0.9"/>
          <c:min val="0.6"/>
        </c:scaling>
        <c:delete val="0"/>
        <c:axPos val="b"/>
        <c:majorGridlines>
          <c:spPr>
            <a:ln w="6350" cap="flat" cmpd="sng" algn="ctr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es-ES" sz="1200" b="0" i="0" u="none" strike="noStrike" kern="1200" baseline="0">
                <a:solidFill>
                  <a:srgbClr val="64748B"/>
                </a:solidFill>
                <a:latin typeface="Arial" panose="020B0604020202020204"/>
                <a:ea typeface="+mn-ea"/>
                <a:cs typeface="+mn-cs"/>
              </a:defRPr>
            </a:pPr>
            <a:endParaRPr lang="es-CO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0"/>
    <c:extLst>
      <c:ext uri="{0b15fc19-7d7d-44ad-8c2d-2c3a37ce22c3}">
        <chartProps xmlns="https://web.wps.cn/et/2018/main" chartId="{7661fa9e-502f-4bf5-b450-69cfcd938266}"/>
      </c:ext>
    </c:extLst>
  </c:chart>
  <c:spPr>
    <a:solidFill>
      <a:srgbClr val="FFFFFF"/>
    </a:solidFill>
    <a:ln>
      <a:noFill/>
    </a:ln>
    <a:effectLst/>
  </c:spPr>
  <c:txPr>
    <a:bodyPr/>
    <a:lstStyle/>
    <a:p>
      <a:pPr>
        <a:defRPr lang="es-ES"/>
      </a:pPr>
      <a:endParaRPr lang="es-CO"/>
    </a:p>
  </c:tx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5/1/2026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chart" Target="../charts/chart5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7.xml"/><Relationship Id="rId2" Type="http://schemas.openxmlformats.org/officeDocument/2006/relationships/chart" Target="../charts/chart6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chart" Target="../charts/chart8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23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463040"/>
            <a:ext cx="11064240" cy="10972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Modelado y Evaluación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548640" y="2651760"/>
            <a:ext cx="868680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90E0E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Pipeline de transformación, entrenamiento y evaluación del modelo GradientBoosting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548640" y="3749040"/>
            <a:ext cx="2468880" cy="1463040"/>
          </a:xfrm>
          <a:prstGeom prst="roundRect">
            <a:avLst>
              <a:gd name="adj" fmla="val 7500"/>
            </a:avLst>
          </a:prstGeom>
          <a:solidFill>
            <a:srgbClr val="2E4370"/>
          </a:solidFill>
        </p:spPr>
      </p:sp>
      <p:sp>
        <p:nvSpPr>
          <p:cNvPr id="6" name="Text 4"/>
          <p:cNvSpPr/>
          <p:nvPr/>
        </p:nvSpPr>
        <p:spPr>
          <a:xfrm>
            <a:off x="548640" y="3794760"/>
            <a:ext cx="2468880" cy="877824"/>
          </a:xfrm>
          <a:prstGeom prst="rect">
            <a:avLst/>
          </a:prstGeom>
          <a:noFill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</a:rPr>
              <a:t>6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548640" y="4597603"/>
            <a:ext cx="2468880" cy="614477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0E0EF"/>
                </a:solidFill>
              </a:rPr>
              <a:t>Pasos Modelado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383280" y="3749040"/>
            <a:ext cx="2468880" cy="1463040"/>
          </a:xfrm>
          <a:prstGeom prst="roundRect">
            <a:avLst>
              <a:gd name="adj" fmla="val 7500"/>
            </a:avLst>
          </a:prstGeom>
          <a:solidFill>
            <a:srgbClr val="2E4370"/>
          </a:solidFill>
        </p:spPr>
      </p:sp>
      <p:sp>
        <p:nvSpPr>
          <p:cNvPr id="9" name="Text 7"/>
          <p:cNvSpPr/>
          <p:nvPr/>
        </p:nvSpPr>
        <p:spPr>
          <a:xfrm>
            <a:off x="3383280" y="3794760"/>
            <a:ext cx="2468880" cy="877824"/>
          </a:xfrm>
          <a:prstGeom prst="rect">
            <a:avLst/>
          </a:prstGeom>
          <a:noFill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</a:rPr>
              <a:t>8 Pasos Eval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383280" y="4597603"/>
            <a:ext cx="2468880" cy="614477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0E0EF"/>
                </a:solidFill>
              </a:rPr>
              <a:t>Validación cruzada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217920" y="3749040"/>
            <a:ext cx="2468880" cy="1463040"/>
          </a:xfrm>
          <a:prstGeom prst="roundRect">
            <a:avLst>
              <a:gd name="adj" fmla="val 7500"/>
            </a:avLst>
          </a:prstGeom>
          <a:solidFill>
            <a:srgbClr val="0D6E46"/>
          </a:solidFill>
        </p:spPr>
      </p:sp>
      <p:sp>
        <p:nvSpPr>
          <p:cNvPr id="12" name="Text 10"/>
          <p:cNvSpPr/>
          <p:nvPr/>
        </p:nvSpPr>
        <p:spPr>
          <a:xfrm>
            <a:off x="6217920" y="3794760"/>
            <a:ext cx="2468880" cy="877824"/>
          </a:xfrm>
          <a:prstGeom prst="rect">
            <a:avLst/>
          </a:prstGeom>
          <a:noFill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</a:rPr>
              <a:t>GBoost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6217920" y="4597603"/>
            <a:ext cx="2468880" cy="614477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0E0EF"/>
                </a:solidFill>
              </a:rPr>
              <a:t>Validación cruzada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9052560" y="3749040"/>
            <a:ext cx="2468880" cy="1463040"/>
          </a:xfrm>
          <a:prstGeom prst="roundRect">
            <a:avLst>
              <a:gd name="adj" fmla="val 7500"/>
            </a:avLst>
          </a:prstGeom>
          <a:solidFill>
            <a:srgbClr val="2E4370"/>
          </a:solidFill>
        </p:spPr>
      </p:sp>
      <p:sp>
        <p:nvSpPr>
          <p:cNvPr id="15" name="Text 13"/>
          <p:cNvSpPr/>
          <p:nvPr/>
        </p:nvSpPr>
        <p:spPr>
          <a:xfrm>
            <a:off x="9052560" y="3794760"/>
            <a:ext cx="2468880" cy="877824"/>
          </a:xfrm>
          <a:prstGeom prst="rect">
            <a:avLst/>
          </a:prstGeom>
          <a:noFill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</a:rPr>
              <a:t>R² 0.813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9052560" y="4597603"/>
            <a:ext cx="2468880" cy="614477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0E0EF"/>
                </a:solidFill>
              </a:rPr>
              <a:t>Menor gap overfit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48640" y="6217920"/>
            <a:ext cx="1106424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6D9C"/>
                </a:solidFill>
              </a:rPr>
              <a:t>Dataset: Melbourne Housing  ·  Target: Price_log  ·  Train: 10,862 filas  ·  Test: 2,716 filas  ·  Features: 21 columnas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64592"/>
            <a:ext cx="1106424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23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Flujo de trabajo del Modelado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642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 pasos: del Feature Engineering al Pipeline entrenado y exportado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005840"/>
            <a:ext cx="11064240" cy="27432"/>
          </a:xfrm>
          <a:prstGeom prst="rect">
            <a:avLst/>
          </a:prstGeom>
          <a:solidFill>
            <a:srgbClr val="90E0EF"/>
          </a:solidFill>
          <a:ln w="12700">
            <a:solidFill>
              <a:srgbClr val="90E0E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280160"/>
            <a:ext cx="265176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2E4370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280160"/>
            <a:ext cx="457200" cy="1554480"/>
          </a:xfrm>
          <a:prstGeom prst="rect">
            <a:avLst/>
          </a:prstGeom>
          <a:solidFill>
            <a:srgbClr val="2E4370"/>
          </a:solidFill>
          <a:ln w="12700">
            <a:solidFill>
              <a:srgbClr val="2E437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280160"/>
            <a:ext cx="457200" cy="1554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05840" y="1280160"/>
            <a:ext cx="2057400" cy="1554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3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Importar librerías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337560" y="1280160"/>
            <a:ext cx="265176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2E4370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337560" y="1280160"/>
            <a:ext cx="457200" cy="1554480"/>
          </a:xfrm>
          <a:prstGeom prst="rect">
            <a:avLst/>
          </a:prstGeom>
          <a:solidFill>
            <a:srgbClr val="2E4370"/>
          </a:solidFill>
          <a:ln w="12700">
            <a:solidFill>
              <a:srgbClr val="2E437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337560" y="1280160"/>
            <a:ext cx="457200" cy="1554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886200" y="1280160"/>
            <a:ext cx="2057400" cy="1554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3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Cargar datos del FE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217920" y="1280160"/>
            <a:ext cx="265176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00B4D8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217920" y="1280160"/>
            <a:ext cx="457200" cy="155448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17920" y="1280160"/>
            <a:ext cx="457200" cy="1554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3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766560" y="1280160"/>
            <a:ext cx="2057400" cy="1554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3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Construir el Pipeline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9098280" y="1280160"/>
            <a:ext cx="265176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00B4D8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9098280" y="1280160"/>
            <a:ext cx="457200" cy="155448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098280" y="1280160"/>
            <a:ext cx="457200" cy="1554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4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9646920" y="1280160"/>
            <a:ext cx="2057400" cy="1554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3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Entrenar el Pipeline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57200" y="3108960"/>
            <a:ext cx="265176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F59E0B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57200" y="3108960"/>
            <a:ext cx="457200" cy="15544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7200" y="3108960"/>
            <a:ext cx="457200" cy="1554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5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005840" y="3108960"/>
            <a:ext cx="2057400" cy="1554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3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Resumen del modelado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3337560" y="3108960"/>
            <a:ext cx="265176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F59E0B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337560" y="3108960"/>
            <a:ext cx="457200" cy="15544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337560" y="3108960"/>
            <a:ext cx="457200" cy="1554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6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3886200" y="3108960"/>
            <a:ext cx="2057400" cy="1554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3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Exportar Pipeline (.pkl)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457200" y="5212080"/>
            <a:ext cx="11247120" cy="914400"/>
          </a:xfrm>
          <a:prstGeom prst="rect">
            <a:avLst/>
          </a:prstGeom>
          <a:solidFill>
            <a:srgbClr val="EBF8FF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57200" y="5212080"/>
            <a:ext cx="64008" cy="9144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94360" y="5212080"/>
            <a:ext cx="11064240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340"/>
                </a:solidFill>
              </a:rPr>
              <a:t>💡  Regla de oro: fit() SOLO con datos de train. transform() se aplica a train y test. Esto previene el Data Leakage.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0" y="6400800"/>
            <a:ext cx="12161520" cy="457200"/>
          </a:xfrm>
          <a:prstGeom prst="rect">
            <a:avLst/>
          </a:prstGeom>
          <a:solidFill>
            <a:srgbClr val="1A2340"/>
          </a:solidFill>
          <a:ln w="12700">
            <a:solidFill>
              <a:srgbClr val="1A234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0" y="6400800"/>
            <a:ext cx="1645920" cy="4572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0" y="6400800"/>
            <a:ext cx="164592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2340"/>
                </a:solidFill>
              </a:rPr>
              <a:t>Pasos 1–6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1737360" y="6400800"/>
            <a:ext cx="7315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0E0EF"/>
                </a:solidFill>
              </a:rPr>
              <a:t>Flujo completo del Modelado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8686800" y="6400800"/>
            <a:ext cx="347472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A9AC0"/>
                </a:solidFill>
              </a:rPr>
              <a:t>Modelado y Evaluación | Melbourne Housing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64592"/>
            <a:ext cx="1106424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23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Paso 3: Construcción del Pipeline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642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ColumnTransformer aplica transformaciones por tipo de columna en paralelo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005840"/>
            <a:ext cx="11064240" cy="27432"/>
          </a:xfrm>
          <a:prstGeom prst="rect">
            <a:avLst/>
          </a:prstGeom>
          <a:solidFill>
            <a:srgbClr val="90E0EF"/>
          </a:solidFill>
          <a:ln w="12700">
            <a:solidFill>
              <a:srgbClr val="90E0E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188720"/>
            <a:ext cx="530352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340"/>
                </a:solidFill>
              </a:rPr>
              <a:t>Pipeline: Preprocessor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645920"/>
            <a:ext cx="530352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2E437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645920"/>
            <a:ext cx="64008" cy="868680"/>
          </a:xfrm>
          <a:prstGeom prst="rect">
            <a:avLst/>
          </a:prstGeom>
          <a:solidFill>
            <a:srgbClr val="2E4370"/>
          </a:solidFill>
          <a:ln w="12700">
            <a:solidFill>
              <a:srgbClr val="2E437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1691640"/>
            <a:ext cx="51206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E4370"/>
                </a:solidFill>
              </a:rPr>
              <a:t>Numéricas (20 cols)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94360" y="1965960"/>
            <a:ext cx="512064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SimpleImputer(median) → RobustScaler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57200" y="2651760"/>
            <a:ext cx="530352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7200" y="2651760"/>
            <a:ext cx="64008" cy="86868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94360" y="2697480"/>
            <a:ext cx="51206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B4D8"/>
                </a:solidFill>
              </a:rPr>
              <a:t>Fecha (1 col)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94360" y="2971800"/>
            <a:ext cx="512064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datetime → timestamp → StandardScaler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57200" y="3657600"/>
            <a:ext cx="530352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57200" y="3657600"/>
            <a:ext cx="64008" cy="868680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4360" y="3703320"/>
            <a:ext cx="51206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4748B"/>
                </a:solidFill>
              </a:rPr>
              <a:t>Categóricas (0 cols)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94360" y="3977640"/>
            <a:ext cx="512064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No aplica en este dataset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57200" y="4754880"/>
            <a:ext cx="5303520" cy="594360"/>
          </a:xfrm>
          <a:prstGeom prst="rect">
            <a:avLst/>
          </a:prstGeom>
          <a:solidFill>
            <a:srgbClr val="EBF8FF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57200" y="4754880"/>
            <a:ext cx="64008" cy="59436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94360" y="4754880"/>
            <a:ext cx="512064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3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🔒  fit() SOLO con X_train. transform() aplica a train y test por igual — sin data leakage.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126480" y="1188720"/>
            <a:ext cx="576072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340"/>
                </a:solidFill>
              </a:rPr>
              <a:t>Pipeline final: Preprocesamiento + Modelo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126480" y="1645920"/>
            <a:ext cx="576072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2E437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126480" y="1645920"/>
            <a:ext cx="64008" cy="777240"/>
          </a:xfrm>
          <a:prstGeom prst="rect">
            <a:avLst/>
          </a:prstGeom>
          <a:solidFill>
            <a:srgbClr val="2E4370"/>
          </a:solidFill>
          <a:ln w="12700">
            <a:solidFill>
              <a:srgbClr val="2E437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263640" y="1691640"/>
            <a:ext cx="55778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E4370"/>
                </a:solidFill>
              </a:rPr>
              <a:t>ColumnTransformer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263640" y="1965960"/>
            <a:ext cx="55778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340"/>
                </a:solidFill>
              </a:rPr>
              <a:t>Aplica sub-pipelines en paralelo por tipo de columna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126480" y="2560320"/>
            <a:ext cx="576072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126480" y="2560320"/>
            <a:ext cx="64008" cy="7772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263640" y="2606040"/>
            <a:ext cx="55778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59E0B"/>
                </a:solidFill>
              </a:rPr>
              <a:t>Modelo elegido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263640" y="2880360"/>
            <a:ext cx="55778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340"/>
                </a:solidFill>
              </a:rPr>
              <a:t>X_train → ColumnTransformer → Transformado → Modelo.fit()Regressor(n_estimators=100, random_state=42)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6126480" y="3474720"/>
            <a:ext cx="576072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126480" y="3474720"/>
            <a:ext cx="64008" cy="77724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263640" y="3520440"/>
            <a:ext cx="55778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0B981"/>
                </a:solidFill>
              </a:rPr>
              <a:t>Resultado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6263640" y="3794760"/>
            <a:ext cx="55778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340"/>
                </a:solidFill>
              </a:rPr>
              <a:t>pipeline_final = Pipeline([preprocesamiento, modelo])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6126480" y="4389120"/>
            <a:ext cx="576072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0D6E46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126480" y="4389120"/>
            <a:ext cx="64008" cy="777240"/>
          </a:xfrm>
          <a:prstGeom prst="rect">
            <a:avLst/>
          </a:prstGeom>
          <a:solidFill>
            <a:srgbClr val="0D6E46"/>
          </a:solidFill>
          <a:ln w="12700">
            <a:solidFill>
              <a:srgbClr val="0D6E4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263640" y="4434840"/>
            <a:ext cx="55778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6E46"/>
                </a:solidFill>
              </a:rPr>
              <a:t>Flujo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6263640" y="4709160"/>
            <a:ext cx="55778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340"/>
                </a:solidFill>
              </a:rPr>
              <a:t>X_train → ColumnTransformer → Transformado → Modelo.fit()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6263640" y="5349240"/>
            <a:ext cx="55778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6263640" y="5623560"/>
            <a:ext cx="55778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0" y="6400800"/>
            <a:ext cx="12161520" cy="457200"/>
          </a:xfrm>
          <a:prstGeom prst="rect">
            <a:avLst/>
          </a:prstGeom>
          <a:solidFill>
            <a:srgbClr val="1A2340"/>
          </a:solidFill>
          <a:ln w="12700">
            <a:solidFill>
              <a:srgbClr val="1A2340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0" y="6400800"/>
            <a:ext cx="1645920" cy="4572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0" y="6400800"/>
            <a:ext cx="164592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2340"/>
                </a:solidFill>
              </a:rPr>
              <a:t>Paso 3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1737360" y="6400800"/>
            <a:ext cx="7315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0E0EF"/>
                </a:solidFill>
              </a:rPr>
              <a:t>Pipeline: ColumnTransformer + GradientBoosting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8686800" y="6400800"/>
            <a:ext cx="347472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A9AC0"/>
                </a:solidFill>
              </a:rPr>
              <a:t>Modelado y Evaluación | Melbourne Housing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64592"/>
            <a:ext cx="1106424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23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Paso 4: Entrenamiento y predicciones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642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El Pipeline se entrena completo con X_train — ningún dato de test contamina el proceso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005840"/>
            <a:ext cx="11064240" cy="27432"/>
          </a:xfrm>
          <a:prstGeom prst="rect">
            <a:avLst/>
          </a:prstGeom>
          <a:solidFill>
            <a:srgbClr val="90E0EF"/>
          </a:solidFill>
          <a:ln w="12700">
            <a:solidFill>
              <a:srgbClr val="90E0EF"/>
            </a:solidFill>
            <a:prstDash val="solid"/>
          </a:ln>
        </p:spPr>
      </p:sp>
      <p:graphicFrame>
        <p:nvGraphicFramePr>
          <p:cNvPr id="5" name="Chart 0"/>
          <p:cNvGraphicFramePr/>
          <p:nvPr/>
        </p:nvGraphicFramePr>
        <p:xfrm>
          <a:off x="365760" y="1143000"/>
          <a:ext cx="7132320" cy="5029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6" name="Text 3"/>
          <p:cNvSpPr/>
          <p:nvPr/>
        </p:nvSpPr>
        <p:spPr>
          <a:xfrm>
            <a:off x="7680960" y="1188720"/>
            <a:ext cx="420624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340"/>
                </a:solidFill>
              </a:rPr>
              <a:t>Resultados del entrenamiento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7680960" y="1691640"/>
            <a:ext cx="4206240" cy="1024128"/>
          </a:xfrm>
          <a:prstGeom prst="rect">
            <a:avLst/>
          </a:prstGeom>
          <a:solidFill>
            <a:srgbClr val="FFFFFF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7680960" y="1691640"/>
            <a:ext cx="64008" cy="102412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818120" y="1737360"/>
            <a:ext cx="40233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0B981"/>
                </a:solidFill>
              </a:rPr>
              <a:t>✅  Entrenamiento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7818120" y="2075688"/>
            <a:ext cx="402336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340"/>
                </a:solidFill>
              </a:rPr>
              <a:t>pipeline_final.fit(X_train, y_train) — aprende medianas, escalas y pesos del modelo solo con train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7680960" y="2862072"/>
            <a:ext cx="4206240" cy="1024128"/>
          </a:xfrm>
          <a:prstGeom prst="rect">
            <a:avLst/>
          </a:prstGeom>
          <a:solidFill>
            <a:srgbClr val="FFFFFF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7680960" y="2862072"/>
            <a:ext cx="64008" cy="102412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7818120" y="2907792"/>
            <a:ext cx="40233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B4D8"/>
                </a:solidFill>
              </a:rPr>
              <a:t>📊  Predicciones en test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7818120" y="3246120"/>
            <a:ext cx="402336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340"/>
                </a:solidFill>
              </a:rPr>
              <a:t>y_pred = pipeline_final.predict(X_test) — aplica transformaciones del train, no re-aprende nada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7680960" y="4032504"/>
            <a:ext cx="4206240" cy="1024128"/>
          </a:xfrm>
          <a:prstGeom prst="rect">
            <a:avLst/>
          </a:prstGeom>
          <a:solidFill>
            <a:srgbClr val="FFFFFF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7680960" y="4032504"/>
            <a:ext cx="64008" cy="1024128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7818120" y="4078224"/>
            <a:ext cx="40233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4748B"/>
                </a:solidFill>
              </a:rPr>
              <a:t>🔍  Inspección inicial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7818120" y="4416552"/>
            <a:ext cx="402336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340"/>
                </a:solidFill>
              </a:rPr>
              <a:t>Primeras 10 predicciones en escala log vs escala original (np.expm1) para sanidad check</a:t>
            </a:r>
            <a:endParaRPr lang="en-US" sz="950" dirty="0"/>
          </a:p>
        </p:txBody>
      </p:sp>
      <p:sp>
        <p:nvSpPr>
          <p:cNvPr id="19" name="Shape 16"/>
          <p:cNvSpPr/>
          <p:nvPr/>
        </p:nvSpPr>
        <p:spPr>
          <a:xfrm>
            <a:off x="7680960" y="5202936"/>
            <a:ext cx="4206240" cy="1024128"/>
          </a:xfrm>
          <a:prstGeom prst="rect">
            <a:avLst/>
          </a:prstGeom>
          <a:solidFill>
            <a:srgbClr val="FFFFFF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7680960" y="5202936"/>
            <a:ext cx="64008" cy="102412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7818120" y="5248656"/>
            <a:ext cx="40233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59E0B"/>
                </a:solidFill>
              </a:rPr>
              <a:t>⚠️  Regla de oro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7818120" y="5586984"/>
            <a:ext cx="402336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340"/>
                </a:solidFill>
              </a:rPr>
              <a:t>Si el target fue transformado con log1p, las predicciones también están en esa escala — aplica np.expm1() para interpretar en precios reales</a:t>
            </a:r>
            <a:endParaRPr lang="en-US" sz="950" dirty="0"/>
          </a:p>
        </p:txBody>
      </p:sp>
      <p:sp>
        <p:nvSpPr>
          <p:cNvPr id="23" name="Shape 20"/>
          <p:cNvSpPr/>
          <p:nvPr/>
        </p:nvSpPr>
        <p:spPr>
          <a:xfrm>
            <a:off x="0" y="6400800"/>
            <a:ext cx="12161520" cy="457200"/>
          </a:xfrm>
          <a:prstGeom prst="rect">
            <a:avLst/>
          </a:prstGeom>
          <a:solidFill>
            <a:srgbClr val="1A2340"/>
          </a:solidFill>
          <a:ln w="12700">
            <a:solidFill>
              <a:srgbClr val="1A2340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0" y="6400800"/>
            <a:ext cx="1645920" cy="4572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0" y="6400800"/>
            <a:ext cx="164592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2340"/>
                </a:solidFill>
              </a:rPr>
              <a:t>Paso 4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1737360" y="6400800"/>
            <a:ext cx="7315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0E0EF"/>
                </a:solidFill>
              </a:rPr>
              <a:t>Entrenamiento y predicciones</a:t>
            </a:r>
            <a:endParaRPr lang="en-US" sz="1000" dirty="0"/>
          </a:p>
        </p:txBody>
      </p:sp>
      <p:sp>
        <p:nvSpPr>
          <p:cNvPr id="27" name="Text 24"/>
          <p:cNvSpPr/>
          <p:nvPr/>
        </p:nvSpPr>
        <p:spPr>
          <a:xfrm>
            <a:off x="8686800" y="6400800"/>
            <a:ext cx="347472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A9AC0"/>
                </a:solidFill>
              </a:rPr>
              <a:t>Modelado y Evaluación | Melbourne Housing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64592"/>
            <a:ext cx="1106424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23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Paso 5-6: Exportar Pipeline y Resumen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642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El Pipeline exportado como .pkl contiene preprocesamiento + modelo — listo para producción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005840"/>
            <a:ext cx="11064240" cy="27432"/>
          </a:xfrm>
          <a:prstGeom prst="rect">
            <a:avLst/>
          </a:prstGeom>
          <a:solidFill>
            <a:srgbClr val="90E0EF"/>
          </a:solidFill>
          <a:ln w="12700">
            <a:solidFill>
              <a:srgbClr val="90E0EF"/>
            </a:solidFill>
            <a:prstDash val="solid"/>
          </a:ln>
        </p:spPr>
      </p:sp>
      <p:graphicFrame>
        <p:nvGraphicFramePr>
          <p:cNvPr id="5" name="Chart 0"/>
          <p:cNvGraphicFramePr/>
          <p:nvPr/>
        </p:nvGraphicFramePr>
        <p:xfrm>
          <a:off x="365760" y="1143000"/>
          <a:ext cx="7132320" cy="5029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6" name="Text 3"/>
          <p:cNvSpPr/>
          <p:nvPr/>
        </p:nvSpPr>
        <p:spPr>
          <a:xfrm>
            <a:off x="7680960" y="1188720"/>
            <a:ext cx="420624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340"/>
                </a:solidFill>
              </a:rPr>
              <a:t>Exportación del Pipeline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7680960" y="1691640"/>
            <a:ext cx="4206240" cy="1024128"/>
          </a:xfrm>
          <a:prstGeom prst="rect">
            <a:avLst/>
          </a:prstGeom>
          <a:solidFill>
            <a:srgbClr val="FFFFFF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7680960" y="1691640"/>
            <a:ext cx="64008" cy="102412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818120" y="1737360"/>
            <a:ext cx="40233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0B981"/>
                </a:solidFill>
              </a:rPr>
              <a:t>💾  Exportar con joblib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7818120" y="2075688"/>
            <a:ext cx="402336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340"/>
                </a:solidFill>
              </a:rPr>
              <a:t>joblib.dump(pipeline_final, "pipeline_modelo.pkl") — guarda el Pipeline completo en disco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7680960" y="2862072"/>
            <a:ext cx="4206240" cy="1024128"/>
          </a:xfrm>
          <a:prstGeom prst="rect">
            <a:avLst/>
          </a:prstGeom>
          <a:solidFill>
            <a:srgbClr val="FFFFFF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7680960" y="2862072"/>
            <a:ext cx="64008" cy="102412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7818120" y="2907792"/>
            <a:ext cx="40233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B4D8"/>
                </a:solidFill>
              </a:rPr>
              <a:t>✅  Verificación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7818120" y="3246120"/>
            <a:ext cx="402336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340"/>
                </a:solidFill>
              </a:rPr>
              <a:t>Cargar el .pkl y generar predicciones idénticas confirma que el Pipeline se serializó correctamente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7680960" y="4032504"/>
            <a:ext cx="4206240" cy="1024128"/>
          </a:xfrm>
          <a:prstGeom prst="rect">
            <a:avLst/>
          </a:prstGeom>
          <a:solidFill>
            <a:srgbClr val="FFFFFF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7680960" y="4032504"/>
            <a:ext cx="64008" cy="1024128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7818120" y="4078224"/>
            <a:ext cx="40233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4748B"/>
                </a:solidFill>
              </a:rPr>
              <a:t>📋  Resumen del modelado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7818120" y="4416552"/>
            <a:ext cx="402336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340"/>
                </a:solidFill>
              </a:rPr>
              <a:t>Modelo: GradientBoostingRegressor  |  Train: 10,862 filas  |  Test: 2,716 filas  |  Features: 21</a:t>
            </a:r>
            <a:endParaRPr lang="en-US" sz="950" dirty="0"/>
          </a:p>
        </p:txBody>
      </p:sp>
      <p:sp>
        <p:nvSpPr>
          <p:cNvPr id="19" name="Shape 16"/>
          <p:cNvSpPr/>
          <p:nvPr/>
        </p:nvSpPr>
        <p:spPr>
          <a:xfrm>
            <a:off x="7680960" y="5202936"/>
            <a:ext cx="4206240" cy="1024128"/>
          </a:xfrm>
          <a:prstGeom prst="rect">
            <a:avLst/>
          </a:prstGeom>
          <a:solidFill>
            <a:srgbClr val="FFFFFF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7680960" y="5202936"/>
            <a:ext cx="64008" cy="102412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7818120" y="5248656"/>
            <a:ext cx="40233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59E0B"/>
                </a:solidFill>
              </a:rPr>
              <a:t>🚀  Producción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7818120" y="5586984"/>
            <a:ext cx="402336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340"/>
                </a:solidFill>
              </a:rPr>
              <a:t>pipeline_cargado = joblib.load("pipeline_modelo.pkl") — predice sin reentrenar en cualquier entorno</a:t>
            </a:r>
            <a:endParaRPr lang="en-US" sz="950" dirty="0"/>
          </a:p>
        </p:txBody>
      </p:sp>
      <p:sp>
        <p:nvSpPr>
          <p:cNvPr id="23" name="Shape 20"/>
          <p:cNvSpPr/>
          <p:nvPr/>
        </p:nvSpPr>
        <p:spPr>
          <a:xfrm>
            <a:off x="0" y="6400800"/>
            <a:ext cx="12161520" cy="457200"/>
          </a:xfrm>
          <a:prstGeom prst="rect">
            <a:avLst/>
          </a:prstGeom>
          <a:solidFill>
            <a:srgbClr val="1A2340"/>
          </a:solidFill>
          <a:ln w="12700">
            <a:solidFill>
              <a:srgbClr val="1A2340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0" y="6400800"/>
            <a:ext cx="1645920" cy="4572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0" y="6400800"/>
            <a:ext cx="164592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2340"/>
                </a:solidFill>
              </a:rPr>
              <a:t>Pasos 5–6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1737360" y="6400800"/>
            <a:ext cx="7315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0E0EF"/>
                </a:solidFill>
              </a:rPr>
              <a:t>Exportar Pipeline y resumen</a:t>
            </a:r>
            <a:endParaRPr lang="en-US" sz="1000" dirty="0"/>
          </a:p>
        </p:txBody>
      </p:sp>
      <p:sp>
        <p:nvSpPr>
          <p:cNvPr id="27" name="Text 24"/>
          <p:cNvSpPr/>
          <p:nvPr/>
        </p:nvSpPr>
        <p:spPr>
          <a:xfrm>
            <a:off x="8686800" y="6400800"/>
            <a:ext cx="347472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A9AC0"/>
                </a:solidFill>
              </a:rPr>
              <a:t>Modelado y Evaluación | Melbourne Housing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64592"/>
            <a:ext cx="1106424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23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Evaluación: Paso 3 — Métricas base en test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642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Cuatro métricas dan una imagen completa del desempeño del modelo en escala original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005840"/>
            <a:ext cx="11064240" cy="27432"/>
          </a:xfrm>
          <a:prstGeom prst="rect">
            <a:avLst/>
          </a:prstGeom>
          <a:solidFill>
            <a:srgbClr val="90E0EF"/>
          </a:solidFill>
          <a:ln w="12700">
            <a:solidFill>
              <a:srgbClr val="90E0EF"/>
            </a:solidFill>
            <a:prstDash val="solid"/>
          </a:ln>
        </p:spPr>
      </p:sp>
      <p:graphicFrame>
        <p:nvGraphicFramePr>
          <p:cNvPr id="5" name="Chart 0"/>
          <p:cNvGraphicFramePr/>
          <p:nvPr/>
        </p:nvGraphicFramePr>
        <p:xfrm>
          <a:off x="365760" y="1143000"/>
          <a:ext cx="5669280" cy="25603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6" name="Chart 1"/>
          <p:cNvGraphicFramePr/>
          <p:nvPr/>
        </p:nvGraphicFramePr>
        <p:xfrm>
          <a:off x="365760" y="3931920"/>
          <a:ext cx="5669280" cy="22402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Text 3"/>
          <p:cNvSpPr/>
          <p:nvPr/>
        </p:nvSpPr>
        <p:spPr>
          <a:xfrm>
            <a:off x="6309360" y="1188720"/>
            <a:ext cx="557784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340"/>
                </a:solidFill>
              </a:rPr>
              <a:t>Métricas clave</a:t>
            </a:r>
            <a:endParaRPr lang="en-US" sz="1300" dirty="0"/>
          </a:p>
        </p:txBody>
      </p:sp>
      <p:sp>
        <p:nvSpPr>
          <p:cNvPr id="8" name="Shape 4"/>
          <p:cNvSpPr/>
          <p:nvPr/>
        </p:nvSpPr>
        <p:spPr>
          <a:xfrm>
            <a:off x="6309360" y="1645920"/>
            <a:ext cx="557784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9" name="Shape 5"/>
          <p:cNvSpPr/>
          <p:nvPr/>
        </p:nvSpPr>
        <p:spPr>
          <a:xfrm>
            <a:off x="6309360" y="1645920"/>
            <a:ext cx="64008" cy="804672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6446520" y="1691640"/>
            <a:ext cx="53949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F4444"/>
                </a:solidFill>
              </a:rPr>
              <a:t>RMSE — Error cuadrático medio</a:t>
            </a:r>
            <a:endParaRPr lang="en-US" sz="1000" dirty="0"/>
          </a:p>
        </p:txBody>
      </p:sp>
      <p:sp>
        <p:nvSpPr>
          <p:cNvPr id="11" name="Text 7"/>
          <p:cNvSpPr/>
          <p:nvPr/>
        </p:nvSpPr>
        <p:spPr>
          <a:xfrm>
            <a:off x="6446520" y="1993392"/>
            <a:ext cx="539496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340"/>
                </a:solidFill>
              </a:rPr>
              <a:t>Penaliza fuerte los errores grandes. Útil cuando equivocarse mucho es costoso (ej: precio $500k vs $1M real)</a:t>
            </a:r>
            <a:endParaRPr lang="en-US" sz="950" dirty="0"/>
          </a:p>
        </p:txBody>
      </p:sp>
      <p:sp>
        <p:nvSpPr>
          <p:cNvPr id="12" name="Shape 8"/>
          <p:cNvSpPr/>
          <p:nvPr/>
        </p:nvSpPr>
        <p:spPr>
          <a:xfrm>
            <a:off x="6309360" y="2606040"/>
            <a:ext cx="557784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6309360" y="2606040"/>
            <a:ext cx="64008" cy="80467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6446520" y="2651760"/>
            <a:ext cx="53949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97316"/>
                </a:solidFill>
              </a:rPr>
              <a:t>MAE — Error absoluto medio</a:t>
            </a:r>
            <a:endParaRPr lang="en-US" sz="1000" dirty="0"/>
          </a:p>
        </p:txBody>
      </p:sp>
      <p:sp>
        <p:nvSpPr>
          <p:cNvPr id="15" name="Text 11"/>
          <p:cNvSpPr/>
          <p:nvPr/>
        </p:nvSpPr>
        <p:spPr>
          <a:xfrm>
            <a:off x="6446520" y="2953512"/>
            <a:ext cx="539496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340"/>
                </a:solidFill>
              </a:rPr>
              <a:t>Error promedio sin castigo extra. Más robusto ante outliers. Interpretable directamente en $ de precio</a:t>
            </a:r>
            <a:endParaRPr lang="en-US" sz="950" dirty="0"/>
          </a:p>
        </p:txBody>
      </p:sp>
      <p:sp>
        <p:nvSpPr>
          <p:cNvPr id="16" name="Shape 12"/>
          <p:cNvSpPr/>
          <p:nvPr/>
        </p:nvSpPr>
        <p:spPr>
          <a:xfrm>
            <a:off x="6309360" y="3566160"/>
            <a:ext cx="557784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6309360" y="3566160"/>
            <a:ext cx="64008" cy="80467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6446520" y="3611880"/>
            <a:ext cx="53949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59E0B"/>
                </a:solidFill>
              </a:rPr>
              <a:t>MAPE — Error porcentual medio</a:t>
            </a:r>
            <a:endParaRPr lang="en-US" sz="1000" dirty="0"/>
          </a:p>
        </p:txBody>
      </p:sp>
      <p:sp>
        <p:nvSpPr>
          <p:cNvPr id="19" name="Text 15"/>
          <p:cNvSpPr/>
          <p:nvPr/>
        </p:nvSpPr>
        <p:spPr>
          <a:xfrm>
            <a:off x="6446520" y="3913632"/>
            <a:ext cx="539496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340"/>
                </a:solidFill>
              </a:rPr>
              <a:t>El más fácil de comunicar al cliente: "el modelo se equivoca en promedio un X%" en escala de precios</a:t>
            </a:r>
            <a:endParaRPr lang="en-US" sz="950" dirty="0"/>
          </a:p>
        </p:txBody>
      </p:sp>
      <p:sp>
        <p:nvSpPr>
          <p:cNvPr id="20" name="Shape 16"/>
          <p:cNvSpPr/>
          <p:nvPr/>
        </p:nvSpPr>
        <p:spPr>
          <a:xfrm>
            <a:off x="6309360" y="4526280"/>
            <a:ext cx="557784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1" name="Shape 17"/>
          <p:cNvSpPr/>
          <p:nvPr/>
        </p:nvSpPr>
        <p:spPr>
          <a:xfrm>
            <a:off x="6309360" y="4526280"/>
            <a:ext cx="64008" cy="80467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6446520" y="4572000"/>
            <a:ext cx="53949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0B981"/>
                </a:solidFill>
              </a:rPr>
              <a:t>R² — Varianza explicada</a:t>
            </a:r>
            <a:endParaRPr lang="en-US" sz="1000" dirty="0"/>
          </a:p>
        </p:txBody>
      </p:sp>
      <p:sp>
        <p:nvSpPr>
          <p:cNvPr id="23" name="Text 19"/>
          <p:cNvSpPr/>
          <p:nvPr/>
        </p:nvSpPr>
        <p:spPr>
          <a:xfrm>
            <a:off x="6446520" y="4873752"/>
            <a:ext cx="539496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340"/>
                </a:solidFill>
              </a:rPr>
              <a:t>Proporción de variabilidad del target que explica el modelo. R² &gt; 0.75 = modelo útil para producción</a:t>
            </a:r>
            <a:endParaRPr lang="en-US" sz="950" dirty="0"/>
          </a:p>
        </p:txBody>
      </p:sp>
      <p:sp>
        <p:nvSpPr>
          <p:cNvPr id="24" name="Shape 20"/>
          <p:cNvSpPr/>
          <p:nvPr/>
        </p:nvSpPr>
        <p:spPr>
          <a:xfrm>
            <a:off x="6309360" y="5486400"/>
            <a:ext cx="557784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2E4370"/>
            </a:solidFill>
            <a:prstDash val="solid"/>
          </a:ln>
        </p:spPr>
      </p:sp>
      <p:sp>
        <p:nvSpPr>
          <p:cNvPr id="25" name="Shape 21"/>
          <p:cNvSpPr/>
          <p:nvPr/>
        </p:nvSpPr>
        <p:spPr>
          <a:xfrm>
            <a:off x="6309360" y="5486400"/>
            <a:ext cx="64008" cy="804672"/>
          </a:xfrm>
          <a:prstGeom prst="rect">
            <a:avLst/>
          </a:prstGeom>
          <a:solidFill>
            <a:srgbClr val="2E4370"/>
          </a:solidFill>
          <a:ln w="12700">
            <a:solidFill>
              <a:srgbClr val="2E4370"/>
            </a:solidFill>
            <a:prstDash val="solid"/>
          </a:ln>
        </p:spPr>
      </p:sp>
      <p:sp>
        <p:nvSpPr>
          <p:cNvPr id="26" name="Text 22"/>
          <p:cNvSpPr/>
          <p:nvPr/>
        </p:nvSpPr>
        <p:spPr>
          <a:xfrm>
            <a:off x="6446520" y="5532120"/>
            <a:ext cx="53949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E4370"/>
                </a:solidFill>
              </a:rPr>
              <a:t>⚠️  Umbral de calidad</a:t>
            </a:r>
            <a:endParaRPr lang="en-US" sz="1000" dirty="0"/>
          </a:p>
        </p:txBody>
      </p:sp>
      <p:sp>
        <p:nvSpPr>
          <p:cNvPr id="27" name="Text 23"/>
          <p:cNvSpPr/>
          <p:nvPr/>
        </p:nvSpPr>
        <p:spPr>
          <a:xfrm>
            <a:off x="6446520" y="5833872"/>
            <a:ext cx="539496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340"/>
                </a:solidFill>
              </a:rPr>
              <a:t>R² &gt; 0.75 útil | RMSE y MAE en escala original ($) | MAPE &lt; 20% aceptable para producción</a:t>
            </a:r>
            <a:endParaRPr lang="en-US" sz="950" dirty="0"/>
          </a:p>
        </p:txBody>
      </p:sp>
      <p:sp>
        <p:nvSpPr>
          <p:cNvPr id="28" name="Shape 24"/>
          <p:cNvSpPr/>
          <p:nvPr/>
        </p:nvSpPr>
        <p:spPr>
          <a:xfrm>
            <a:off x="0" y="6400800"/>
            <a:ext cx="12161520" cy="457200"/>
          </a:xfrm>
          <a:prstGeom prst="rect">
            <a:avLst/>
          </a:prstGeom>
          <a:solidFill>
            <a:srgbClr val="1A2340"/>
          </a:solidFill>
          <a:ln w="12700">
            <a:solidFill>
              <a:srgbClr val="1A2340"/>
            </a:solidFill>
            <a:prstDash val="solid"/>
          </a:ln>
        </p:spPr>
      </p:sp>
      <p:sp>
        <p:nvSpPr>
          <p:cNvPr id="29" name="Shape 25"/>
          <p:cNvSpPr/>
          <p:nvPr/>
        </p:nvSpPr>
        <p:spPr>
          <a:xfrm>
            <a:off x="0" y="6400800"/>
            <a:ext cx="1645920" cy="4572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0" name="Text 26"/>
          <p:cNvSpPr/>
          <p:nvPr/>
        </p:nvSpPr>
        <p:spPr>
          <a:xfrm>
            <a:off x="0" y="6400800"/>
            <a:ext cx="164592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2340"/>
                </a:solidFill>
              </a:rPr>
              <a:t>Paso 3</a:t>
            </a:r>
            <a:endParaRPr lang="en-US" sz="1100" dirty="0"/>
          </a:p>
        </p:txBody>
      </p:sp>
      <p:sp>
        <p:nvSpPr>
          <p:cNvPr id="31" name="Text 27"/>
          <p:cNvSpPr/>
          <p:nvPr/>
        </p:nvSpPr>
        <p:spPr>
          <a:xfrm>
            <a:off x="1737360" y="6400800"/>
            <a:ext cx="7315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0E0EF"/>
                </a:solidFill>
              </a:rPr>
              <a:t>Métricas base en test</a:t>
            </a:r>
            <a:endParaRPr lang="en-US" sz="1000" dirty="0"/>
          </a:p>
        </p:txBody>
      </p:sp>
      <p:sp>
        <p:nvSpPr>
          <p:cNvPr id="32" name="Text 28"/>
          <p:cNvSpPr/>
          <p:nvPr/>
        </p:nvSpPr>
        <p:spPr>
          <a:xfrm>
            <a:off x="8686800" y="6400800"/>
            <a:ext cx="347472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A9AC0"/>
                </a:solidFill>
              </a:rPr>
              <a:t>Modelado y Evaluación | Melbourne Housing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64592"/>
            <a:ext cx="1106424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23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Evaluación: Paso 4 — Train vs Test (Overfitting)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642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El gap R²_train − R²_test detecta si el modelo memoriza en lugar de generalizar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005840"/>
            <a:ext cx="11064240" cy="27432"/>
          </a:xfrm>
          <a:prstGeom prst="rect">
            <a:avLst/>
          </a:prstGeom>
          <a:solidFill>
            <a:srgbClr val="90E0EF"/>
          </a:solidFill>
          <a:ln w="12700">
            <a:solidFill>
              <a:srgbClr val="90E0E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188720"/>
            <a:ext cx="11430000" cy="777240"/>
          </a:xfrm>
          <a:prstGeom prst="rect">
            <a:avLst/>
          </a:prstGeom>
          <a:solidFill>
            <a:srgbClr val="1A2340"/>
          </a:solidFill>
          <a:ln w="12700">
            <a:solidFill>
              <a:srgbClr val="1A234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188720"/>
            <a:ext cx="1143000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B4D8"/>
                </a:solidFill>
              </a:rPr>
              <a:t>Diagnóstico:  Gap &lt; 0.05 → bien balanceado  |  Gap 0.05–0.15 → leve overfitting  |  Gap &gt; 0.15 → crítico</a:t>
            </a:r>
            <a:endParaRPr lang="en-US" sz="1400" dirty="0"/>
          </a:p>
        </p:txBody>
      </p:sp>
      <p:graphicFrame>
        <p:nvGraphicFramePr>
          <p:cNvPr id="7" name="Chart 0"/>
          <p:cNvGraphicFramePr/>
          <p:nvPr/>
        </p:nvGraphicFramePr>
        <p:xfrm>
          <a:off x="365760" y="2103120"/>
          <a:ext cx="6858000" cy="40690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8" name="Text 5"/>
          <p:cNvSpPr/>
          <p:nvPr/>
        </p:nvSpPr>
        <p:spPr>
          <a:xfrm>
            <a:off x="7406640" y="2103120"/>
            <a:ext cx="457200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340"/>
                </a:solidFill>
              </a:rPr>
              <a:t>Interpretación del gap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7406640" y="2606040"/>
            <a:ext cx="4572000" cy="1170432"/>
          </a:xfrm>
          <a:prstGeom prst="roundRect">
            <a:avLst>
              <a:gd name="adj" fmla="val 7813"/>
            </a:avLst>
          </a:prstGeom>
          <a:solidFill>
            <a:srgbClr val="FFFFFF"/>
          </a:solidFill>
          <a:ln w="12700">
            <a:solidFill>
              <a:srgbClr val="0D6E46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543800" y="2679192"/>
            <a:ext cx="438912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6E46"/>
                </a:solidFill>
              </a:rPr>
              <a:t>Gap &lt; 0 (R²_test &gt; R²_train)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7543800" y="3063240"/>
            <a:ext cx="43891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Inusual — sospecha de data leakage. Revisar que el preprocesamiento no vea datos de test</a:t>
            </a:r>
            <a:endParaRPr lang="en-US" sz="950" dirty="0"/>
          </a:p>
        </p:txBody>
      </p:sp>
      <p:sp>
        <p:nvSpPr>
          <p:cNvPr id="12" name="Text 9"/>
          <p:cNvSpPr/>
          <p:nvPr/>
        </p:nvSpPr>
        <p:spPr>
          <a:xfrm>
            <a:off x="7543800" y="3383280"/>
            <a:ext cx="43891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7406640" y="3931920"/>
            <a:ext cx="4572000" cy="1170432"/>
          </a:xfrm>
          <a:prstGeom prst="roundRect">
            <a:avLst>
              <a:gd name="adj" fmla="val 7813"/>
            </a:avLst>
          </a:prstGeom>
          <a:solidFill>
            <a:srgbClr val="FFFFFF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7543800" y="4005072"/>
            <a:ext cx="438912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0B981"/>
                </a:solidFill>
              </a:rPr>
              <a:t>Gap 0.05–0.15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7543800" y="4389120"/>
            <a:ext cx="43891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Leve overfitting aceptable. El modelo generaliza razonablemente. Vigilar en producción</a:t>
            </a:r>
            <a:endParaRPr lang="en-US" sz="950" dirty="0"/>
          </a:p>
        </p:txBody>
      </p:sp>
      <p:sp>
        <p:nvSpPr>
          <p:cNvPr id="16" name="Text 13"/>
          <p:cNvSpPr/>
          <p:nvPr/>
        </p:nvSpPr>
        <p:spPr>
          <a:xfrm>
            <a:off x="7543800" y="4709160"/>
            <a:ext cx="43891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7406640" y="5257800"/>
            <a:ext cx="4572000" cy="1170432"/>
          </a:xfrm>
          <a:prstGeom prst="roundRect">
            <a:avLst>
              <a:gd name="adj" fmla="val 7813"/>
            </a:avLst>
          </a:prstGeom>
          <a:solidFill>
            <a:srgbClr val="FFFFFF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7543800" y="5330952"/>
            <a:ext cx="438912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B4D8"/>
                </a:solidFill>
              </a:rPr>
              <a:t>Gap &gt; 0.15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7543800" y="5715000"/>
            <a:ext cx="43891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Overfitting significativo. Regularizar (Ridge/Lasso), reducir features o agregar más datos de train</a:t>
            </a:r>
            <a:endParaRPr lang="en-US" sz="950" dirty="0"/>
          </a:p>
        </p:txBody>
      </p:sp>
      <p:sp>
        <p:nvSpPr>
          <p:cNvPr id="20" name="Text 17"/>
          <p:cNvSpPr/>
          <p:nvPr/>
        </p:nvSpPr>
        <p:spPr>
          <a:xfrm>
            <a:off x="7543800" y="6035040"/>
            <a:ext cx="43891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0" y="6400800"/>
            <a:ext cx="12161520" cy="457200"/>
          </a:xfrm>
          <a:prstGeom prst="rect">
            <a:avLst/>
          </a:prstGeom>
          <a:solidFill>
            <a:srgbClr val="1A2340"/>
          </a:solidFill>
          <a:ln w="12700">
            <a:solidFill>
              <a:srgbClr val="1A2340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0" y="6400800"/>
            <a:ext cx="1645920" cy="4572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0" y="6400800"/>
            <a:ext cx="164592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2340"/>
                </a:solidFill>
              </a:rPr>
              <a:t>Paso 4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1737360" y="6400800"/>
            <a:ext cx="7315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0E0EF"/>
                </a:solidFill>
              </a:rPr>
              <a:t>Train vs Test y diagnóstico de overfitting</a:t>
            </a:r>
            <a:endParaRPr lang="en-US" sz="1000" dirty="0"/>
          </a:p>
        </p:txBody>
      </p:sp>
      <p:sp>
        <p:nvSpPr>
          <p:cNvPr id="25" name="Text 22"/>
          <p:cNvSpPr/>
          <p:nvPr/>
        </p:nvSpPr>
        <p:spPr>
          <a:xfrm>
            <a:off x="8686800" y="6400800"/>
            <a:ext cx="347472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A9AC0"/>
                </a:solidFill>
              </a:rPr>
              <a:t>Modelado y Evaluación | Melbourne Housing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64592"/>
            <a:ext cx="1106424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23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Evaluación: Paso 5 — Validación Cruzada 5-fold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642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La CV repite la evaluación 5 veces — elimina el azar de una sola división train/test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005840"/>
            <a:ext cx="11064240" cy="27432"/>
          </a:xfrm>
          <a:prstGeom prst="rect">
            <a:avLst/>
          </a:prstGeom>
          <a:solidFill>
            <a:srgbClr val="90E0EF"/>
          </a:solidFill>
          <a:ln w="12700">
            <a:solidFill>
              <a:srgbClr val="90E0E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188720"/>
            <a:ext cx="11430000" cy="2011680"/>
          </a:xfrm>
          <a:prstGeom prst="roundRect">
            <a:avLst>
              <a:gd name="adj" fmla="val 6818"/>
            </a:avLst>
          </a:prstGeom>
          <a:solidFill>
            <a:srgbClr val="0D6E46"/>
          </a:solidFill>
        </p:spPr>
      </p:sp>
      <p:sp>
        <p:nvSpPr>
          <p:cNvPr id="6" name="Text 4"/>
          <p:cNvSpPr/>
          <p:nvPr/>
        </p:nvSpPr>
        <p:spPr>
          <a:xfrm>
            <a:off x="548640" y="1280160"/>
            <a:ext cx="1106424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A7F3D0"/>
                </a:solidFill>
              </a:rPr>
              <a:t>📊  RESULTADO CV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1691640"/>
            <a:ext cx="731520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GradientBoosting (5-fold)</a:t>
            </a:r>
            <a:endParaRPr lang="en-US" sz="3600" dirty="0"/>
          </a:p>
        </p:txBody>
      </p:sp>
      <p:sp>
        <p:nvSpPr>
          <p:cNvPr id="8" name="Shape 6"/>
          <p:cNvSpPr/>
          <p:nvPr/>
        </p:nvSpPr>
        <p:spPr>
          <a:xfrm>
            <a:off x="365760" y="3383280"/>
            <a:ext cx="2103120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>
            <a:solidFill>
              <a:srgbClr val="A7F3D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3429000"/>
            <a:ext cx="210312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D6E46"/>
                </a:solidFill>
              </a:rPr>
              <a:t>0.8131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365760" y="4069080"/>
            <a:ext cx="2103120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</a:rPr>
              <a:t>R² promedio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2651760" y="3383280"/>
            <a:ext cx="2103120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>
            <a:solidFill>
              <a:srgbClr val="A7F3D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651760" y="3429000"/>
            <a:ext cx="210312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D6E46"/>
                </a:solidFill>
              </a:rPr>
              <a:t>±0.0184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2651760" y="4069080"/>
            <a:ext cx="2103120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</a:rPr>
              <a:t>Std entre folds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937760" y="3383280"/>
            <a:ext cx="2103120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>
            <a:solidFill>
              <a:srgbClr val="A7F3D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937760" y="3429000"/>
            <a:ext cx="210312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D6E46"/>
                </a:solidFill>
              </a:rPr>
              <a:t>0.2276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4937760" y="4069080"/>
            <a:ext cx="2103120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</a:rPr>
              <a:t>RMSE promedio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7223760" y="3383280"/>
            <a:ext cx="2103120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>
            <a:solidFill>
              <a:srgbClr val="A7F3D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223760" y="3429000"/>
            <a:ext cx="210312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D6E46"/>
                </a:solidFill>
              </a:rPr>
              <a:t>5 folds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7223760" y="4069080"/>
            <a:ext cx="2103120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</a:rPr>
              <a:t>Evaluaciones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9509760" y="3383280"/>
            <a:ext cx="2103120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>
            <a:solidFill>
              <a:srgbClr val="A7F3D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509760" y="3429000"/>
            <a:ext cx="210312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D6E46"/>
                </a:solidFill>
              </a:rPr>
              <a:t>KFold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9509760" y="4069080"/>
            <a:ext cx="2103120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</a:rPr>
              <a:t>Estrategia CV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365760" y="4754880"/>
            <a:ext cx="1143000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340"/>
                </a:solidFill>
              </a:rPr>
              <a:t>¿Por qué GradientBoosting (5-fold) sobre RandomForest?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365760" y="5230368"/>
            <a:ext cx="5623560" cy="502920"/>
          </a:xfrm>
          <a:prstGeom prst="rect">
            <a:avLst/>
          </a:prstGeom>
          <a:solidFill>
            <a:srgbClr val="E6F4EA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65760" y="5230368"/>
            <a:ext cx="64008" cy="50292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02920" y="5230368"/>
            <a:ext cx="544068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340"/>
                </a:solidFill>
              </a:rPr>
              <a:t>✅  Folds similares: modelo estable, aprende patrones consistentes independientemente de los datos de cada fold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6172200" y="5230368"/>
            <a:ext cx="5623560" cy="502920"/>
          </a:xfrm>
          <a:prstGeom prst="rect">
            <a:avLst/>
          </a:prstGeom>
          <a:solidFill>
            <a:srgbClr val="E6F4EA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172200" y="5230368"/>
            <a:ext cx="64008" cy="50292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309360" y="5230368"/>
            <a:ext cx="544068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340"/>
                </a:solidFill>
              </a:rPr>
              <a:t>⚠️  Un fold muy diferente: ese subconjunto tiene características distintas — puede indicar subgrupos en el dataset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365760" y="5797296"/>
            <a:ext cx="5623560" cy="502920"/>
          </a:xfrm>
          <a:prstGeom prst="rect">
            <a:avLst/>
          </a:prstGeom>
          <a:solidFill>
            <a:srgbClr val="E6F4EA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65760" y="5797296"/>
            <a:ext cx="64008" cy="50292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02920" y="5797296"/>
            <a:ext cx="544068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340"/>
                </a:solidFill>
              </a:rPr>
              <a:t>✅  Tiempo razonable: 5 folds de entrenamiento — viable para reentrenamiento periódico.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6172200" y="5797296"/>
            <a:ext cx="5623560" cy="502920"/>
          </a:xfrm>
          <a:prstGeom prst="rect">
            <a:avLst/>
          </a:prstGeom>
          <a:solidFill>
            <a:srgbClr val="FFF8E6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172200" y="5797296"/>
            <a:ext cx="64008" cy="5029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309360" y="5797296"/>
            <a:ext cx="544068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340"/>
                </a:solidFill>
              </a:rPr>
              <a:t>💡  R² CV esperado en datos completamente nuevos: 0.8131 — esta es la métrica más confiable del modelo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0" y="6400800"/>
            <a:ext cx="12161520" cy="457200"/>
          </a:xfrm>
          <a:prstGeom prst="rect">
            <a:avLst/>
          </a:prstGeom>
          <a:solidFill>
            <a:srgbClr val="1A2340"/>
          </a:solidFill>
          <a:ln w="12700">
            <a:solidFill>
              <a:srgbClr val="1A234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0" y="6400800"/>
            <a:ext cx="1645920" cy="4572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0" y="6400800"/>
            <a:ext cx="164592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2340"/>
                </a:solidFill>
              </a:rPr>
              <a:t>Paso 5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1737360" y="6400800"/>
            <a:ext cx="7315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0E0EF"/>
                </a:solidFill>
              </a:rPr>
              <a:t>Validación cruzada 5-fold (5-fold)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8686800" y="6400800"/>
            <a:ext cx="347472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A9AC0"/>
                </a:solidFill>
              </a:rPr>
              <a:t>Modelado y Evaluación | Melbourne Housing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64592"/>
            <a:ext cx="1106424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23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Evaluación: Paso 6 — Análisis de Residuos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642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Los residuos son la "firma" de lo que el modelo no pudo aprender — revelan patrones ocultos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005840"/>
            <a:ext cx="11064240" cy="27432"/>
          </a:xfrm>
          <a:prstGeom prst="rect">
            <a:avLst/>
          </a:prstGeom>
          <a:solidFill>
            <a:srgbClr val="90E0EF"/>
          </a:solidFill>
          <a:ln w="12700">
            <a:solidFill>
              <a:srgbClr val="90E0EF"/>
            </a:solidFill>
            <a:prstDash val="solid"/>
          </a:ln>
        </p:spPr>
      </p:sp>
      <p:graphicFrame>
        <p:nvGraphicFramePr>
          <p:cNvPr id="5" name="Chart 0"/>
          <p:cNvGraphicFramePr/>
          <p:nvPr/>
        </p:nvGraphicFramePr>
        <p:xfrm>
          <a:off x="365760" y="1143000"/>
          <a:ext cx="5669280" cy="25603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6" name="Chart 1"/>
          <p:cNvGraphicFramePr/>
          <p:nvPr/>
        </p:nvGraphicFramePr>
        <p:xfrm>
          <a:off x="365760" y="3931920"/>
          <a:ext cx="5669280" cy="22402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Text 3"/>
          <p:cNvSpPr/>
          <p:nvPr/>
        </p:nvSpPr>
        <p:spPr>
          <a:xfrm>
            <a:off x="6309360" y="1188720"/>
            <a:ext cx="557784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340"/>
                </a:solidFill>
              </a:rPr>
              <a:t>Diagnóstico de residuos</a:t>
            </a:r>
            <a:endParaRPr lang="en-US" sz="1300" dirty="0"/>
          </a:p>
        </p:txBody>
      </p:sp>
      <p:sp>
        <p:nvSpPr>
          <p:cNvPr id="8" name="Shape 4"/>
          <p:cNvSpPr/>
          <p:nvPr/>
        </p:nvSpPr>
        <p:spPr>
          <a:xfrm>
            <a:off x="6309360" y="1645920"/>
            <a:ext cx="557784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9" name="Shape 5"/>
          <p:cNvSpPr/>
          <p:nvPr/>
        </p:nvSpPr>
        <p:spPr>
          <a:xfrm>
            <a:off x="6309360" y="1645920"/>
            <a:ext cx="64008" cy="804672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6446520" y="1691640"/>
            <a:ext cx="53949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F4444"/>
                </a:solidFill>
              </a:rPr>
              <a:t>Media ≈ 0  (sin sesgo sistémico)</a:t>
            </a:r>
            <a:endParaRPr lang="en-US" sz="1000" dirty="0"/>
          </a:p>
        </p:txBody>
      </p:sp>
      <p:sp>
        <p:nvSpPr>
          <p:cNvPr id="11" name="Text 7"/>
          <p:cNvSpPr/>
          <p:nvPr/>
        </p:nvSpPr>
        <p:spPr>
          <a:xfrm>
            <a:off x="6446520" y="1993392"/>
            <a:ext cx="539496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340"/>
                </a:solidFill>
              </a:rPr>
              <a:t>Los errores se distribuyen aleatoriamente — el modelo capturó todo el patrón sistémico</a:t>
            </a:r>
            <a:endParaRPr lang="en-US" sz="950" dirty="0"/>
          </a:p>
        </p:txBody>
      </p:sp>
      <p:sp>
        <p:nvSpPr>
          <p:cNvPr id="12" name="Shape 8"/>
          <p:cNvSpPr/>
          <p:nvPr/>
        </p:nvSpPr>
        <p:spPr>
          <a:xfrm>
            <a:off x="6309360" y="2606040"/>
            <a:ext cx="557784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6309360" y="2606040"/>
            <a:ext cx="64008" cy="80467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6446520" y="2651760"/>
            <a:ext cx="53949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97316"/>
                </a:solidFill>
              </a:rPr>
              <a:t>Distribución normal (Shapiro-Wilk p &gt; 0.05)</a:t>
            </a:r>
            <a:endParaRPr lang="en-US" sz="1000" dirty="0"/>
          </a:p>
        </p:txBody>
      </p:sp>
      <p:sp>
        <p:nvSpPr>
          <p:cNvPr id="15" name="Text 11"/>
          <p:cNvSpPr/>
          <p:nvPr/>
        </p:nvSpPr>
        <p:spPr>
          <a:xfrm>
            <a:off x="6446520" y="2953512"/>
            <a:ext cx="539496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340"/>
                </a:solidFill>
              </a:rPr>
              <a:t>Residuos siguen una campana centrada en cero — no hay relaciones no lineales sin capturar</a:t>
            </a:r>
            <a:endParaRPr lang="en-US" sz="950" dirty="0"/>
          </a:p>
        </p:txBody>
      </p:sp>
      <p:sp>
        <p:nvSpPr>
          <p:cNvPr id="16" name="Shape 12"/>
          <p:cNvSpPr/>
          <p:nvPr/>
        </p:nvSpPr>
        <p:spPr>
          <a:xfrm>
            <a:off x="6309360" y="3566160"/>
            <a:ext cx="557784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6309360" y="3566160"/>
            <a:ext cx="64008" cy="80467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6446520" y="3611880"/>
            <a:ext cx="53949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59E0B"/>
                </a:solidFill>
              </a:rPr>
              <a:t>Sin patrón vs predicciones (homocedasticidad)</a:t>
            </a:r>
            <a:endParaRPr lang="en-US" sz="1000" dirty="0"/>
          </a:p>
        </p:txBody>
      </p:sp>
      <p:sp>
        <p:nvSpPr>
          <p:cNvPr id="19" name="Text 15"/>
          <p:cNvSpPr/>
          <p:nvPr/>
        </p:nvSpPr>
        <p:spPr>
          <a:xfrm>
            <a:off x="6446520" y="3913632"/>
            <a:ext cx="539496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340"/>
                </a:solidFill>
              </a:rPr>
              <a:t>Nube horizontal sin patrón = error uniforme en todo el rango. Embudo o curva = modelo incompleto</a:t>
            </a:r>
            <a:endParaRPr lang="en-US" sz="950" dirty="0"/>
          </a:p>
        </p:txBody>
      </p:sp>
      <p:sp>
        <p:nvSpPr>
          <p:cNvPr id="20" name="Shape 16"/>
          <p:cNvSpPr/>
          <p:nvPr/>
        </p:nvSpPr>
        <p:spPr>
          <a:xfrm>
            <a:off x="6309360" y="4526280"/>
            <a:ext cx="557784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1" name="Shape 17"/>
          <p:cNvSpPr/>
          <p:nvPr/>
        </p:nvSpPr>
        <p:spPr>
          <a:xfrm>
            <a:off x="6309360" y="4526280"/>
            <a:ext cx="64008" cy="80467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6446520" y="4572000"/>
            <a:ext cx="53949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0B981"/>
                </a:solidFill>
              </a:rPr>
              <a:t>⚠️  Señales de alerta</a:t>
            </a:r>
            <a:endParaRPr lang="en-US" sz="1000" dirty="0"/>
          </a:p>
        </p:txBody>
      </p:sp>
      <p:sp>
        <p:nvSpPr>
          <p:cNvPr id="23" name="Text 19"/>
          <p:cNvSpPr/>
          <p:nvPr/>
        </p:nvSpPr>
        <p:spPr>
          <a:xfrm>
            <a:off x="6446520" y="4873752"/>
            <a:ext cx="539496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340"/>
                </a:solidFill>
              </a:rPr>
              <a:t>Embudo → transformar target con log | Curva en U → agregar features polinomiales | Outliers → revisar datos atípicos</a:t>
            </a:r>
            <a:endParaRPr lang="en-US" sz="950" dirty="0"/>
          </a:p>
        </p:txBody>
      </p:sp>
      <p:sp>
        <p:nvSpPr>
          <p:cNvPr id="24" name="Shape 20"/>
          <p:cNvSpPr/>
          <p:nvPr/>
        </p:nvSpPr>
        <p:spPr>
          <a:xfrm>
            <a:off x="6309360" y="5486400"/>
            <a:ext cx="557784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2E4370"/>
            </a:solidFill>
            <a:prstDash val="solid"/>
          </a:ln>
        </p:spPr>
      </p:sp>
      <p:sp>
        <p:nvSpPr>
          <p:cNvPr id="25" name="Shape 21"/>
          <p:cNvSpPr/>
          <p:nvPr/>
        </p:nvSpPr>
        <p:spPr>
          <a:xfrm>
            <a:off x="6309360" y="5486400"/>
            <a:ext cx="64008" cy="804672"/>
          </a:xfrm>
          <a:prstGeom prst="rect">
            <a:avLst/>
          </a:prstGeom>
          <a:solidFill>
            <a:srgbClr val="2E4370"/>
          </a:solidFill>
          <a:ln w="12700">
            <a:solidFill>
              <a:srgbClr val="2E4370"/>
            </a:solidFill>
            <a:prstDash val="solid"/>
          </a:ln>
        </p:spPr>
      </p:sp>
      <p:sp>
        <p:nvSpPr>
          <p:cNvPr id="26" name="Text 22"/>
          <p:cNvSpPr/>
          <p:nvPr/>
        </p:nvSpPr>
        <p:spPr>
          <a:xfrm>
            <a:off x="6446520" y="5532120"/>
            <a:ext cx="53949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E4370"/>
                </a:solidFill>
              </a:rPr>
              <a:t>4 gráficos de diagnóstico</a:t>
            </a:r>
            <a:endParaRPr lang="en-US" sz="1000" dirty="0"/>
          </a:p>
        </p:txBody>
      </p:sp>
      <p:sp>
        <p:nvSpPr>
          <p:cNvPr id="27" name="Text 23"/>
          <p:cNvSpPr/>
          <p:nvPr/>
        </p:nvSpPr>
        <p:spPr>
          <a:xfrm>
            <a:off x="6446520" y="5833872"/>
            <a:ext cx="539496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340"/>
                </a:solidFill>
              </a:rPr>
              <a:t>Residuos vs Predichos  |  Distribución (histograma)  |  Q-Q plot  |  Residuos vs observación (orden temporal)</a:t>
            </a:r>
            <a:endParaRPr lang="en-US" sz="950" dirty="0"/>
          </a:p>
        </p:txBody>
      </p:sp>
      <p:sp>
        <p:nvSpPr>
          <p:cNvPr id="28" name="Shape 24"/>
          <p:cNvSpPr/>
          <p:nvPr/>
        </p:nvSpPr>
        <p:spPr>
          <a:xfrm>
            <a:off x="0" y="6400800"/>
            <a:ext cx="12161520" cy="457200"/>
          </a:xfrm>
          <a:prstGeom prst="rect">
            <a:avLst/>
          </a:prstGeom>
          <a:solidFill>
            <a:srgbClr val="1A2340"/>
          </a:solidFill>
          <a:ln w="12700">
            <a:solidFill>
              <a:srgbClr val="1A2340"/>
            </a:solidFill>
            <a:prstDash val="solid"/>
          </a:ln>
        </p:spPr>
      </p:sp>
      <p:sp>
        <p:nvSpPr>
          <p:cNvPr id="29" name="Shape 25"/>
          <p:cNvSpPr/>
          <p:nvPr/>
        </p:nvSpPr>
        <p:spPr>
          <a:xfrm>
            <a:off x="0" y="6400800"/>
            <a:ext cx="1645920" cy="4572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0" name="Text 26"/>
          <p:cNvSpPr/>
          <p:nvPr/>
        </p:nvSpPr>
        <p:spPr>
          <a:xfrm>
            <a:off x="0" y="6400800"/>
            <a:ext cx="164592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2340"/>
                </a:solidFill>
              </a:rPr>
              <a:t>Paso 6</a:t>
            </a:r>
            <a:endParaRPr lang="en-US" sz="1100" dirty="0"/>
          </a:p>
        </p:txBody>
      </p:sp>
      <p:sp>
        <p:nvSpPr>
          <p:cNvPr id="31" name="Text 27"/>
          <p:cNvSpPr/>
          <p:nvPr/>
        </p:nvSpPr>
        <p:spPr>
          <a:xfrm>
            <a:off x="1737360" y="6400800"/>
            <a:ext cx="7315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0E0EF"/>
                </a:solidFill>
              </a:rPr>
              <a:t>Análisis de residuos</a:t>
            </a:r>
            <a:endParaRPr lang="en-US" sz="1000" dirty="0"/>
          </a:p>
        </p:txBody>
      </p:sp>
      <p:sp>
        <p:nvSpPr>
          <p:cNvPr id="32" name="Text 28"/>
          <p:cNvSpPr/>
          <p:nvPr/>
        </p:nvSpPr>
        <p:spPr>
          <a:xfrm>
            <a:off x="8686800" y="6400800"/>
            <a:ext cx="347472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A9AC0"/>
                </a:solidFill>
              </a:rPr>
              <a:t>Modelado y Evaluación | Melbourne Housing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64592"/>
            <a:ext cx="1106424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23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Evaluación: Paso 7 — Importancia de Features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642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Revela qué variables impulsan las predicciones y guía decisiones de Feature Engineering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005840"/>
            <a:ext cx="11064240" cy="27432"/>
          </a:xfrm>
          <a:prstGeom prst="rect">
            <a:avLst/>
          </a:prstGeom>
          <a:solidFill>
            <a:srgbClr val="90E0EF"/>
          </a:solidFill>
          <a:ln w="12700">
            <a:solidFill>
              <a:srgbClr val="90E0EF"/>
            </a:solidFill>
            <a:prstDash val="solid"/>
          </a:ln>
        </p:spPr>
      </p:sp>
      <p:graphicFrame>
        <p:nvGraphicFramePr>
          <p:cNvPr id="5" name="Chart 0"/>
          <p:cNvGraphicFramePr/>
          <p:nvPr/>
        </p:nvGraphicFramePr>
        <p:xfrm>
          <a:off x="365760" y="1143000"/>
          <a:ext cx="7132320" cy="5029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6" name="Text 3"/>
          <p:cNvSpPr/>
          <p:nvPr/>
        </p:nvSpPr>
        <p:spPr>
          <a:xfrm>
            <a:off x="7680960" y="1188720"/>
            <a:ext cx="420624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340"/>
                </a:solidFill>
              </a:rPr>
              <a:t>Por tipo de modelo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7680960" y="1691640"/>
            <a:ext cx="4206240" cy="1024128"/>
          </a:xfrm>
          <a:prstGeom prst="rect">
            <a:avLst/>
          </a:prstGeom>
          <a:solidFill>
            <a:srgbClr val="FFFFFF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7680960" y="1691640"/>
            <a:ext cx="64008" cy="102412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818120" y="1737360"/>
            <a:ext cx="40233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0B981"/>
                </a:solidFill>
              </a:rPr>
              <a:t>🌳  Modelos de árboles (GBoost, RF)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7818120" y="2075688"/>
            <a:ext cx="402336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340"/>
                </a:solidFill>
              </a:rPr>
              <a:t>feature_importances_: mide cuánto mejora cada feature la pureza de los nodos del árbol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7680960" y="2862072"/>
            <a:ext cx="4206240" cy="1024128"/>
          </a:xfrm>
          <a:prstGeom prst="rect">
            <a:avLst/>
          </a:prstGeom>
          <a:solidFill>
            <a:srgbClr val="FFFFFF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7680960" y="2862072"/>
            <a:ext cx="64008" cy="102412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7818120" y="2907792"/>
            <a:ext cx="40233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B4D8"/>
                </a:solidFill>
              </a:rPr>
              <a:t>📈  Modelos lineales (Ridge, Lasso)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7818120" y="3246120"/>
            <a:ext cx="402336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340"/>
                </a:solidFill>
              </a:rPr>
              <a:t>Coeficientes: magnitud indica impacto, signo indica dirección (+ sube precio, − baja precio)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7680960" y="4032504"/>
            <a:ext cx="4206240" cy="1024128"/>
          </a:xfrm>
          <a:prstGeom prst="rect">
            <a:avLst/>
          </a:prstGeom>
          <a:solidFill>
            <a:srgbClr val="FFFFFF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7680960" y="4032504"/>
            <a:ext cx="64008" cy="1024128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7818120" y="4078224"/>
            <a:ext cx="40233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4748B"/>
                </a:solidFill>
              </a:rPr>
              <a:t>🔍  Preguntas que responde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7818120" y="4416552"/>
            <a:ext cx="402336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340"/>
                </a:solidFill>
              </a:rPr>
              <a:t>¿Qué variables explican el Target? | ¿Hay data leakage? | ¿Qué features son prescindibles?</a:t>
            </a:r>
            <a:endParaRPr lang="en-US" sz="950" dirty="0"/>
          </a:p>
        </p:txBody>
      </p:sp>
      <p:sp>
        <p:nvSpPr>
          <p:cNvPr id="19" name="Shape 16"/>
          <p:cNvSpPr/>
          <p:nvPr/>
        </p:nvSpPr>
        <p:spPr>
          <a:xfrm>
            <a:off x="7680960" y="5202936"/>
            <a:ext cx="4206240" cy="1024128"/>
          </a:xfrm>
          <a:prstGeom prst="rect">
            <a:avLst/>
          </a:prstGeom>
          <a:solidFill>
            <a:srgbClr val="FFFFFF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7680960" y="5202936"/>
            <a:ext cx="64008" cy="102412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7818120" y="5248656"/>
            <a:ext cx="40233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59E0B"/>
                </a:solidFill>
              </a:rPr>
              <a:t>📊  Visualización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7818120" y="5586984"/>
            <a:ext cx="402336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340"/>
                </a:solidFill>
              </a:rPr>
              <a:t>Top 15 features como barras horizontales — el 20% de features suele explicar el 80% del poder predictivo</a:t>
            </a:r>
            <a:endParaRPr lang="en-US" sz="950" dirty="0"/>
          </a:p>
        </p:txBody>
      </p:sp>
      <p:sp>
        <p:nvSpPr>
          <p:cNvPr id="23" name="Shape 20"/>
          <p:cNvSpPr/>
          <p:nvPr/>
        </p:nvSpPr>
        <p:spPr>
          <a:xfrm>
            <a:off x="0" y="6400800"/>
            <a:ext cx="12161520" cy="457200"/>
          </a:xfrm>
          <a:prstGeom prst="rect">
            <a:avLst/>
          </a:prstGeom>
          <a:solidFill>
            <a:srgbClr val="1A2340"/>
          </a:solidFill>
          <a:ln w="12700">
            <a:solidFill>
              <a:srgbClr val="1A2340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0" y="6400800"/>
            <a:ext cx="1645920" cy="4572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0" y="6400800"/>
            <a:ext cx="164592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2340"/>
                </a:solidFill>
              </a:rPr>
              <a:t>Paso 7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1737360" y="6400800"/>
            <a:ext cx="7315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0E0EF"/>
                </a:solidFill>
              </a:rPr>
              <a:t>Importancia de features</a:t>
            </a:r>
            <a:endParaRPr lang="en-US" sz="1000" dirty="0"/>
          </a:p>
        </p:txBody>
      </p:sp>
      <p:sp>
        <p:nvSpPr>
          <p:cNvPr id="27" name="Text 24"/>
          <p:cNvSpPr/>
          <p:nvPr/>
        </p:nvSpPr>
        <p:spPr>
          <a:xfrm>
            <a:off x="8686800" y="6400800"/>
            <a:ext cx="347472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A9AC0"/>
                </a:solidFill>
              </a:rPr>
              <a:t>Modelado y Evaluación | Melbourne Housing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23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74320"/>
            <a:ext cx="1106424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Resumen Ejecutivo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960120"/>
            <a:ext cx="1106424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0E0EF"/>
                </a:solidFill>
              </a:rPr>
              <a:t>Modelado y Evaluación — Melbourne Housing  |  Pipeline entrenado y evaluado con GradientBoosting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508760"/>
            <a:ext cx="2468880" cy="1463040"/>
          </a:xfrm>
          <a:prstGeom prst="roundRect">
            <a:avLst>
              <a:gd name="adj" fmla="val 7500"/>
            </a:avLst>
          </a:prstGeom>
          <a:solidFill>
            <a:srgbClr val="2E4370"/>
          </a:solidFill>
        </p:spPr>
      </p:sp>
      <p:sp>
        <p:nvSpPr>
          <p:cNvPr id="6" name="Text 4"/>
          <p:cNvSpPr/>
          <p:nvPr/>
        </p:nvSpPr>
        <p:spPr>
          <a:xfrm>
            <a:off x="548640" y="1554480"/>
            <a:ext cx="2468880" cy="877824"/>
          </a:xfrm>
          <a:prstGeom prst="rect">
            <a:avLst/>
          </a:prstGeom>
          <a:noFill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</a:rPr>
              <a:t>6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548640" y="2357323"/>
            <a:ext cx="2468880" cy="614477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0E0EF"/>
                </a:solidFill>
              </a:rPr>
              <a:t>Pasos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90E0EF"/>
                </a:solidFill>
              </a:rPr>
              <a:t>Modelado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383280" y="1508760"/>
            <a:ext cx="2468880" cy="1463040"/>
          </a:xfrm>
          <a:prstGeom prst="roundRect">
            <a:avLst>
              <a:gd name="adj" fmla="val 7500"/>
            </a:avLst>
          </a:prstGeom>
          <a:solidFill>
            <a:srgbClr val="2E4370"/>
          </a:solidFill>
        </p:spPr>
      </p:sp>
      <p:sp>
        <p:nvSpPr>
          <p:cNvPr id="9" name="Text 7"/>
          <p:cNvSpPr/>
          <p:nvPr/>
        </p:nvSpPr>
        <p:spPr>
          <a:xfrm>
            <a:off x="3383280" y="1554480"/>
            <a:ext cx="2468880" cy="877824"/>
          </a:xfrm>
          <a:prstGeom prst="rect">
            <a:avLst/>
          </a:prstGeom>
          <a:noFill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</a:rPr>
              <a:t>5-Fold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383280" y="2357323"/>
            <a:ext cx="2468880" cy="614477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0E0EF"/>
                </a:solidFill>
              </a:rPr>
              <a:t>Validación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90E0EF"/>
                </a:solidFill>
              </a:rPr>
              <a:t>cruzada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217920" y="1508760"/>
            <a:ext cx="2468880" cy="1463040"/>
          </a:xfrm>
          <a:prstGeom prst="roundRect">
            <a:avLst>
              <a:gd name="adj" fmla="val 7500"/>
            </a:avLst>
          </a:prstGeom>
          <a:solidFill>
            <a:srgbClr val="0D6E46"/>
          </a:solidFill>
        </p:spPr>
      </p:sp>
      <p:sp>
        <p:nvSpPr>
          <p:cNvPr id="12" name="Text 10"/>
          <p:cNvSpPr/>
          <p:nvPr/>
        </p:nvSpPr>
        <p:spPr>
          <a:xfrm>
            <a:off x="6217920" y="1554480"/>
            <a:ext cx="2468880" cy="877824"/>
          </a:xfrm>
          <a:prstGeom prst="rect">
            <a:avLst/>
          </a:prstGeom>
          <a:noFill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</a:rPr>
              <a:t>GBoost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6217920" y="2357323"/>
            <a:ext cx="2468880" cy="614477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0E0EF"/>
                </a:solidFill>
              </a:rPr>
              <a:t>Modelo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90E0EF"/>
                </a:solidFill>
              </a:rPr>
              <a:t>ganador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9052560" y="1508760"/>
            <a:ext cx="2468880" cy="1463040"/>
          </a:xfrm>
          <a:prstGeom prst="roundRect">
            <a:avLst>
              <a:gd name="adj" fmla="val 7500"/>
            </a:avLst>
          </a:prstGeom>
          <a:solidFill>
            <a:srgbClr val="2E4370"/>
          </a:solidFill>
        </p:spPr>
      </p:sp>
      <p:sp>
        <p:nvSpPr>
          <p:cNvPr id="15" name="Text 13"/>
          <p:cNvSpPr/>
          <p:nvPr/>
        </p:nvSpPr>
        <p:spPr>
          <a:xfrm>
            <a:off x="9052560" y="1554480"/>
            <a:ext cx="2468880" cy="877824"/>
          </a:xfrm>
          <a:prstGeom prst="rect">
            <a:avLst/>
          </a:prstGeom>
          <a:noFill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</a:rPr>
              <a:t>R² 0.813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9052560" y="2357323"/>
            <a:ext cx="2468880" cy="614477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0E0EF"/>
                </a:solidFill>
              </a:rPr>
              <a:t>Menor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90E0EF"/>
                </a:solidFill>
              </a:rPr>
              <a:t>gap overfit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48640" y="3200400"/>
            <a:ext cx="1106424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90E0EF"/>
                </a:solidFill>
              </a:rPr>
              <a:t>Conclusiones clave: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548640" y="3657600"/>
            <a:ext cx="5623560" cy="658368"/>
          </a:xfrm>
          <a:prstGeom prst="rect">
            <a:avLst/>
          </a:prstGeom>
          <a:solidFill>
            <a:srgbClr val="1E3160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48640" y="3657600"/>
            <a:ext cx="54864" cy="65836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85800" y="3657600"/>
            <a:ext cx="5440680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</a:rPr>
              <a:t>✅  Pipeline construido: ColumnTransformer (num/fecha) + GradientBoostingRegressor — sin data leakage.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355080" y="3657600"/>
            <a:ext cx="5623560" cy="658368"/>
          </a:xfrm>
          <a:prstGeom prst="rect">
            <a:avLst/>
          </a:prstGeom>
          <a:solidFill>
            <a:srgbClr val="1E3160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355080" y="3657600"/>
            <a:ext cx="54864" cy="65836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92240" y="3657600"/>
            <a:ext cx="5440680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</a:rPr>
              <a:t>📊  R² en test: 0.813 — el modelo explica el 81.3% de la varianza del precio en escala log.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548640" y="4407408"/>
            <a:ext cx="5623560" cy="658368"/>
          </a:xfrm>
          <a:prstGeom prst="rect">
            <a:avLst/>
          </a:prstGeom>
          <a:solidFill>
            <a:srgbClr val="1E3160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48640" y="4407408"/>
            <a:ext cx="54864" cy="65836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85800" y="4407408"/>
            <a:ext cx="5440680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</a:rPr>
              <a:t>🔍  Gap overfitting: +0.009 — excelente generalización, muy por debajo del umbral crítico de 0.15.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6355080" y="4407408"/>
            <a:ext cx="5623560" cy="658368"/>
          </a:xfrm>
          <a:prstGeom prst="rect">
            <a:avLst/>
          </a:prstGeom>
          <a:solidFill>
            <a:srgbClr val="1E3160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355080" y="4407408"/>
            <a:ext cx="54864" cy="65836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492240" y="4407408"/>
            <a:ext cx="5440680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</a:rPr>
              <a:t>📈  CV 5-fold: R² = 0.8131 ± 0.0184 — resultado estable y confiable como estimación de producción.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548640" y="5157216"/>
            <a:ext cx="5623560" cy="658368"/>
          </a:xfrm>
          <a:prstGeom prst="rect">
            <a:avLst/>
          </a:prstGeom>
          <a:solidFill>
            <a:srgbClr val="1E3160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48640" y="5157216"/>
            <a:ext cx="54864" cy="65836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85800" y="5157216"/>
            <a:ext cx="5440680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</a:rPr>
              <a:t>🔵  Pasos lineales útiles como baseline — R²≈0.71 sin overfitting pero insuficiente para producción.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6355080" y="5157216"/>
            <a:ext cx="5623560" cy="658368"/>
          </a:xfrm>
          <a:prstGeom prst="rect">
            <a:avLst/>
          </a:prstGeom>
          <a:solidFill>
            <a:srgbClr val="1E3160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355080" y="5157216"/>
            <a:ext cx="54864" cy="65836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492240" y="5157216"/>
            <a:ext cx="5440680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</a:rPr>
              <a:t>➡️  Pipeline exportado como .pkl — listo para predicción en producción sin reentrenar.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548640" y="6446520"/>
            <a:ext cx="1106424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6D9C"/>
                </a:solidFill>
              </a:rPr>
              <a:t>Pipeline listo para producción — siguiente paso: ajuste de hiperparámetros con GridSearchCV o RandomizedSearchCV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1483</Words>
  <Application>Microsoft Office PowerPoint</Application>
  <PresentationFormat>Panorámica</PresentationFormat>
  <Paragraphs>190</Paragraphs>
  <Slides>11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Comparación de Modelos – Melbourne Housing</dc:title>
  <dc:subject>PptxGenJS Presentation</dc:subject>
  <dc:creator>PptxGenJS</dc:creator>
  <cp:lastModifiedBy>Cristhian Bejarani Murillo</cp:lastModifiedBy>
  <cp:revision>3</cp:revision>
  <dcterms:created xsi:type="dcterms:W3CDTF">2026-05-01T18:11:00Z</dcterms:created>
  <dcterms:modified xsi:type="dcterms:W3CDTF">2026-05-01T21:45:35Z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6FBE749C69B448E3A2A43D0FEBDBCA59_12</vt:lpwstr>
  </property>
  <property fmtid="{D5CDD505-2E9C-101B-9397-08002B2CF9AE}" pid="3" name="KSOProductBuildVer">
    <vt:lpwstr>3082-12.1.0.25242</vt:lpwstr>
  </property>
</Properties>
</file>