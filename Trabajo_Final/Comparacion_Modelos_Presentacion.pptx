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200" b="0" i="0" u="none" strike="noStrike">
                <a:solidFill>
                  <a:srgbClr val="1A2340"/>
                </a:solidFill>
                <a:latin typeface="Arial" panose="020B0604020202020204"/>
              </a:rPr>
              <a:t>R² promedio CV 5-fold</a:t>
            </a:r>
            <a:endParaRPr sz="1200" b="0" i="0" u="none" strike="noStrike">
              <a:solidFill>
                <a:srgbClr val="1A234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CV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0.8287</c:v>
                </c:pt>
                <c:pt idx="1">
                  <c:v>0.8179</c:v>
                </c:pt>
                <c:pt idx="2">
                  <c:v>0.8131</c:v>
                </c:pt>
                <c:pt idx="3">
                  <c:v>0.71</c:v>
                </c:pt>
                <c:pt idx="4">
                  <c:v>0.71</c:v>
                </c:pt>
                <c:pt idx="5">
                  <c:v>0.7045</c:v>
                </c:pt>
                <c:pt idx="6">
                  <c:v>0.6986</c:v>
                </c:pt>
                <c:pt idx="7">
                  <c:v>0.6829</c:v>
                </c:pt>
                <c:pt idx="8">
                  <c:v>0.6759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7661fa9e-502f-4bf5-b450-69cfcd938266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A2340"/>
                </a:solidFill>
                <a:latin typeface="Arial" panose="020B0604020202020204"/>
              </a:rPr>
              <a:t>Gap de overfitting |R²_train − R²_test|</a:t>
            </a:r>
            <a:endParaRPr sz="1100" b="0" i="0" u="none" strike="noStrike">
              <a:solidFill>
                <a:srgbClr val="1A234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Gap Overfit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0.1378</c:v>
                </c:pt>
                <c:pt idx="1">
                  <c:v>0.1801</c:v>
                </c:pt>
                <c:pt idx="2">
                  <c:v>0.0087</c:v>
                </c:pt>
                <c:pt idx="3">
                  <c:v>0.0095</c:v>
                </c:pt>
                <c:pt idx="4">
                  <c:v>0.0096</c:v>
                </c:pt>
                <c:pt idx="5">
                  <c:v>0.0909</c:v>
                </c:pt>
                <c:pt idx="6">
                  <c:v>0.0094</c:v>
                </c:pt>
                <c:pt idx="7">
                  <c:v>0.0084</c:v>
                </c:pt>
                <c:pt idx="8">
                  <c:v>0.3016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796698e-0ff6-4f89-afb8-54c2a8d076d1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A2340"/>
                </a:solidFill>
                <a:latin typeface="Arial" panose="020B0604020202020204"/>
              </a:rPr>
              <a:t>Tiempo de entrenamiento (segundos)</a:t>
            </a:r>
            <a:endParaRPr sz="1100" b="0" i="0" u="none" strike="noStrike">
              <a:solidFill>
                <a:srgbClr val="1A234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Tiempo (s)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8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RandomForest</c:v>
                </c:pt>
                <c:pt idx="1">
                  <c:v>ExtraTrees</c:v>
                </c:pt>
                <c:pt idx="2">
                  <c:v>GradientBoosting</c:v>
                </c:pt>
                <c:pt idx="3">
                  <c:v>LinearRegression</c:v>
                </c:pt>
                <c:pt idx="4">
                  <c:v>Ridge</c:v>
                </c:pt>
                <c:pt idx="5">
                  <c:v>KNN</c:v>
                </c:pt>
                <c:pt idx="6">
                  <c:v>ElasticNet</c:v>
                </c:pt>
                <c:pt idx="7">
                  <c:v>Lasso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5.99</c:v>
                </c:pt>
                <c:pt idx="1">
                  <c:v>3.96</c:v>
                </c:pt>
                <c:pt idx="2">
                  <c:v>1.71</c:v>
                </c:pt>
                <c:pt idx="3">
                  <c:v>0.2</c:v>
                </c:pt>
                <c:pt idx="4">
                  <c:v>0.05</c:v>
                </c:pt>
                <c:pt idx="5">
                  <c:v>0</c:v>
                </c:pt>
                <c:pt idx="6">
                  <c:v>0.05</c:v>
                </c:pt>
                <c:pt idx="7">
                  <c:v>0.06</c:v>
                </c:pt>
                <c:pt idx="8">
                  <c:v>0.16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afc0be5-7017-42c5-a9be-1939a7c10938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s-ES" sz="1100" b="0" i="0" u="none" strike="noStrike" kern="1200" baseline="0">
                <a:solidFill>
                  <a:srgbClr val="1A2340"/>
                </a:solidFill>
                <a:latin typeface="Arial" panose="020B0604020202020204"/>
                <a:ea typeface="+mn-ea"/>
                <a:cs typeface="+mn-cs"/>
              </a:defRPr>
            </a:pPr>
            <a:r>
              <a:rPr sz="1100" b="0" i="0" u="none" strike="noStrike">
                <a:solidFill>
                  <a:srgbClr val="1A2340"/>
                </a:solidFill>
                <a:latin typeface="Arial" panose="020B0604020202020204"/>
              </a:rPr>
              <a:t>Score combinado (mayor = mejor equilibrio)</a:t>
            </a:r>
            <a:endParaRPr sz="1100" b="0" i="0" u="none" strike="noStrike">
              <a:solidFill>
                <a:srgbClr val="1A2340"/>
              </a:solidFill>
              <a:latin typeface="Arial" panose="020B060402020202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6E4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6E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ES" sz="900" b="0" i="0" u="none" strike="noStrike" kern="1200" baseline="0">
                    <a:solidFill>
                      <a:srgbClr val="1E29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Sheet1!$A$2:$A$10</c:f>
              <c:strCache>
                <c:ptCount val="9"/>
                <c:pt idx="0">
                  <c:v>GradientBoosting</c:v>
                </c:pt>
                <c:pt idx="1">
                  <c:v>RandomForest</c:v>
                </c:pt>
                <c:pt idx="2">
                  <c:v>ExtraTrees</c:v>
                </c:pt>
                <c:pt idx="3">
                  <c:v>LinearRegression</c:v>
                </c:pt>
                <c:pt idx="4">
                  <c:v>Ridge</c:v>
                </c:pt>
                <c:pt idx="5">
                  <c:v>ElasticNet</c:v>
                </c:pt>
                <c:pt idx="6">
                  <c:v>Lasso</c:v>
                </c:pt>
                <c:pt idx="7">
                  <c:v>KNN</c:v>
                </c:pt>
                <c:pt idx="8">
                  <c:v>DecisionTree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0.8013</c:v>
                </c:pt>
                <c:pt idx="1">
                  <c:v>0.7802</c:v>
                </c:pt>
                <c:pt idx="2">
                  <c:v>0.7565</c:v>
                </c:pt>
                <c:pt idx="3">
                  <c:v>0.7016</c:v>
                </c:pt>
                <c:pt idx="4">
                  <c:v>0.7015</c:v>
                </c:pt>
                <c:pt idx="5">
                  <c:v>0.6893</c:v>
                </c:pt>
                <c:pt idx="6">
                  <c:v>0.6728</c:v>
                </c:pt>
                <c:pt idx="7">
                  <c:v>0.6676</c:v>
                </c:pt>
                <c:pt idx="8">
                  <c:v>0.5749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334155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.6"/>
        </c:scaling>
        <c:delete val="0"/>
        <c:axPos val="b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s-ES" sz="1200" b="0" i="0" u="none" strike="noStrike" kern="1200" baseline="0">
                <a:solidFill>
                  <a:srgbClr val="64748B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f8bae70d-5d11-4f1f-9658-ed17024a7b54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es-E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chart" Target="../charts/chart3.xml"/><Relationship Id="rId1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110642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Comparación de Modelos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651760"/>
            <a:ext cx="86868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0E0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Selección del mejor algoritmo predictivo para Melbourne Housing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6" name="Text 4"/>
          <p:cNvSpPr/>
          <p:nvPr/>
        </p:nvSpPr>
        <p:spPr>
          <a:xfrm>
            <a:off x="54864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Modelos evaluados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9" name="Text 7"/>
          <p:cNvSpPr/>
          <p:nvPr/>
        </p:nvSpPr>
        <p:spPr>
          <a:xfrm>
            <a:off x="338328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5-Fold CV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 cruzada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D6E46"/>
          </a:solidFill>
        </p:spPr>
      </p:sp>
      <p:sp>
        <p:nvSpPr>
          <p:cNvPr id="12" name="Text 10"/>
          <p:cNvSpPr/>
          <p:nvPr/>
        </p:nvSpPr>
        <p:spPr>
          <a:xfrm>
            <a:off x="621792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G.Boosting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Modelo ganador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374904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15" name="Text 13"/>
          <p:cNvSpPr/>
          <p:nvPr/>
        </p:nvSpPr>
        <p:spPr>
          <a:xfrm>
            <a:off x="9052560" y="379476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R² 0.83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459760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Mejor balance (RF)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2179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D9C"/>
                </a:solidFill>
              </a:rPr>
              <a:t>Entradas: X_train (10,862 filas × 21 cols)  ·  X_test (2,716 filas × 21 cols)  ·  Target: Price_log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Metodología de comparación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 pasos para elegir el mejor modelo antes de comprometerse con uno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457200" cy="15544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Importar librerías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280160"/>
            <a:ext cx="457200" cy="15544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8620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Cargar datos del 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280160"/>
            <a:ext cx="45720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6656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Definir preprocessor compartido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98280" y="12801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098280" y="1280160"/>
            <a:ext cx="457200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98280" y="12801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646920" y="12801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Registrar modelos candidatos (9)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108960"/>
            <a:ext cx="45720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1089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05840" y="31089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Entrenar con validación cruzada 5-fold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37560" y="3108960"/>
            <a:ext cx="457200" cy="15544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31089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86200" y="31089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Comparar resultados visualmente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310896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108960"/>
            <a:ext cx="457200" cy="1554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3108960"/>
            <a:ext cx="4572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66560" y="3108960"/>
            <a:ext cx="20574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Decisión final — elegir modelo ganador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57200" y="5212080"/>
            <a:ext cx="11247120" cy="91440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5212080"/>
            <a:ext cx="64008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5212080"/>
            <a:ext cx="11064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</a:rPr>
              <a:t>💡  Regla de oro: El ganador no es siempre el de mayor R². El mejor modelo combina buen desempeño, estabilidad entre folds y tiempo de entrenamiento razonable para producción.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1–2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Metodología general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Pasos 2–3: Preprocessor y modelos candidatos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 preprocessor compartido garantiza que la comparación sea justa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53035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Preprocessor (ColumnTransformer)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645920"/>
            <a:ext cx="64008" cy="86868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9164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4370"/>
                </a:solidFill>
              </a:rPr>
              <a:t>Numéricas (20 cols)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SimpleImputer(median) → RobustScaler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65176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974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Fecha (1 col)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datetime → timestamp → StandardScaler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5303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657600"/>
            <a:ext cx="64008" cy="8686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7033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Categóricas (0 cols)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97764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aplica en este dataset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5303520" cy="59436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754880"/>
            <a:ext cx="64008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754880"/>
            <a:ext cx="51206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🔒  El preprocessor se ajusta solo con datos de train en cada fold — sin data leakage.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188720"/>
            <a:ext cx="576072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9 modelos candidatos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16459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645920"/>
            <a:ext cx="64008" cy="777240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6916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370"/>
                </a:solidFill>
              </a:rPr>
              <a:t>Lineales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63640" y="19659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LinearRegression, Ridge, Lasso, ElasticNet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5603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26480" y="2560320"/>
            <a:ext cx="64008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26060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Árboles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63640" y="28803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DecisionTree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4747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474720"/>
            <a:ext cx="6400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35204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Ensamble (Bagging)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RandomForest, ExtraTrees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43891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26480" y="4389120"/>
            <a:ext cx="64008" cy="777240"/>
          </a:xfrm>
          <a:prstGeom prst="rect">
            <a:avLst/>
          </a:prstGeom>
          <a:solidFill>
            <a:srgbClr val="0D6E46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4348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6E46"/>
                </a:solidFill>
              </a:rPr>
              <a:t>Ensamble (Boosting)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63640" y="47091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GradientBoosting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5303520"/>
            <a:ext cx="57607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5303520"/>
            <a:ext cx="64008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3640" y="5349240"/>
            <a:ext cx="5577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Basado en distancia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63640" y="5623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340"/>
                </a:solidFill>
              </a:rPr>
              <a:t>KNN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126480" y="6080760"/>
            <a:ext cx="5760720" cy="320040"/>
          </a:xfrm>
          <a:prstGeom prst="rect">
            <a:avLst/>
          </a:prstGeom>
          <a:solidFill>
            <a:srgbClr val="EBF8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26480" y="6309360"/>
            <a:ext cx="64008" cy="320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09360" y="6080760"/>
            <a:ext cx="5577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Hiperparámetros por defecto — la optimización viene después.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2–3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Preprocessor compartido y modelos candidatos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4: Resultados de validación cruzada 5-fold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Cada modelo se evaluó 5 veces — los números son el promedio honesto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365760" y="1188720"/>
          <a:ext cx="11430000" cy="5029200"/>
        </p:xfrm>
        <a:graphic>
          <a:graphicData uri="http://schemas.openxmlformats.org/drawingml/2006/table">
            <a:tbl>
              <a:tblPr/>
              <a:tblGrid>
                <a:gridCol w="457200"/>
                <a:gridCol w="2011680"/>
                <a:gridCol w="1188720"/>
                <a:gridCol w="914400"/>
                <a:gridCol w="1005840"/>
                <a:gridCol w="1280160"/>
                <a:gridCol w="1005840"/>
                <a:gridCol w="1280160"/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Modelo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R² CV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±Std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Gap Overfit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Tiempo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Estado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RandomForest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6E46"/>
                          </a:solidFill>
                        </a:rPr>
                        <a:t>0.8287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±0.0143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0.2179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+0.1378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5.99s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ExtraTrees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6E46"/>
                          </a:solidFill>
                        </a:rPr>
                        <a:t>0.8179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±0.0148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0.2247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+0.1801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3.96s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</a:rPr>
                        <a:t>⚠️ ALERTA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GradientBoosting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D6E46"/>
                          </a:solidFill>
                        </a:rPr>
                        <a:t>0.8131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±0.0184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0.2276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+0.0087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1.71s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LinearRegression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0.7100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±0.0169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0.2836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-0.0095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0.20s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Ridge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0.7100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±0.0170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0.2836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-0.0096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0.05s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KNN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0.7045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±0.0193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0.2863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+0.0909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0.00s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ElasticNet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0.6986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±0.0186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0.2891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-0.0094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0.05s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Lasso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0.6829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±0.0202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0.2966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-0.0084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0.06s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0B981"/>
                          </a:solidFill>
                        </a:rPr>
                        <a:t>✅ OK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DecisionTree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2340"/>
                          </a:solidFill>
                        </a:rPr>
                        <a:t>0.6759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±0.0210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0.2999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F4444"/>
                          </a:solidFill>
                        </a:rPr>
                        <a:t>+0.3016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0.16s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F4444"/>
                          </a:solidFill>
                        </a:rPr>
                        <a:t>⚠️ ALERTA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4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Entrenamiento y evaluación con validación cruzada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Pasos 5–6: Comparación visual de los 9 modelos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R², RMSE, overfitting y tiempo — el tradeoff completo de una sola vista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11430000" cy="5029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5–6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Visualización comparativa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Análisis: R² y estabilidad entre modelos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mejor R² no siempre gana — la varianza entre folds también importa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713232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80960" y="1188720"/>
            <a:ext cx="4206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Observaciones clave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680960" y="1691640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680960" y="1691640"/>
            <a:ext cx="64008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73736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🏆  Top tier (R² ≥ 0.81)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818120" y="2075688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RandomForest (0.829), ExtraTrees (0.818), GradientBoosting (0.813)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680960" y="2862072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862072"/>
            <a:ext cx="64008" cy="10241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818120" y="2907792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🔵  Competitivo (R² ≈ 0.70)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818120" y="324612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LinearRegression, Ridge y KNN — válidos para baseline simple.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7680960" y="4032504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680960" y="4032504"/>
            <a:ext cx="64008" cy="10241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818120" y="4078224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⬇️  Descartados (R² &lt; 0.70)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818120" y="4416552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ElasticNet, Lasso, DecisionTree — rendimiento insuficiente.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680960" y="5202936"/>
            <a:ext cx="420624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680960" y="5202936"/>
            <a:ext cx="64008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818120" y="5248656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📏  Estabilidad (std)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818120" y="5586984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RandomForest std=0.014 — el más estable del top 3.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5–6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R² y estabilidad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Análisis: Overfitting y costo computacional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gap y el tiempo son los factores de producción — no solo el R²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365760" y="1143000"/>
          <a:ext cx="56692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365760" y="3931920"/>
          <a:ext cx="566928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309360" y="1188720"/>
            <a:ext cx="55778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Análisis de riesgo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309360" y="164592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6309360" y="1645920"/>
            <a:ext cx="64008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169164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</a:rPr>
              <a:t>DecisionTree  —  gap +0.30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446520" y="199339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CRÍTICO: Sobreajuste extremo — descartado directamente.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309360" y="260604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309360" y="2606040"/>
            <a:ext cx="64008" cy="8046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265176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</a:rPr>
              <a:t>ExtraTrees  —  gap +0.18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446520" y="295351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ALERTA: Supera umbral 0.15 — generaliza peor de lo que parece.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309360" y="356616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309360" y="3566160"/>
            <a:ext cx="64008" cy="80467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446520" y="361188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</a:rPr>
              <a:t>RandomForest  —  gap +0.14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446520" y="391363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BORDERLINE: Muy cerca del umbral. Requiere regularización.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6309360" y="452628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309360" y="4526280"/>
            <a:ext cx="64008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46520" y="457200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</a:rPr>
              <a:t>GradientBoosting  —  gap +0.009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446520" y="487375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EXCELENTE: El menor gap del top tier — mejor generalización.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309360" y="5486400"/>
            <a:ext cx="55778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9360" y="5486400"/>
            <a:ext cx="64008" cy="804672"/>
          </a:xfrm>
          <a:prstGeom prst="rect">
            <a:avLst/>
          </a:prstGeom>
          <a:solidFill>
            <a:srgbClr val="2E4370"/>
          </a:solidFill>
          <a:ln w="12700">
            <a:solidFill>
              <a:srgbClr val="2E437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446520" y="5532120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4370"/>
                </a:solidFill>
              </a:rPr>
              <a:t>Modelos lineales  —  gap ≈ 0.00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446520" y="5833872"/>
            <a:ext cx="53949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ÓPTIMO: Sin overfitting, pero R² más bajo.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5–6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Overfitting y tiempo de entrenamiento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7: Score combinado y decisión final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Una métrica que penaliza inestabilidad y overfitting simultáneamente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1430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Score combinado  =  R²_CV_mean  −  (R²_CV_std × 0.5)  −  (Gap_overfit × 0.3)</a:t>
            </a:r>
            <a:endParaRPr lang="en-US" sz="14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65760" y="2103120"/>
          <a:ext cx="68580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7406640" y="2103120"/>
            <a:ext cx="45720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Top 3 según score combinado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260604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0D6E4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267919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6E46"/>
                </a:solidFill>
              </a:rPr>
              <a:t>🥇  GradientBoosting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43800" y="30632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R²: 0.8131  |  std: ±0.0184  |  gap: +0.0087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543800" y="338328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46"/>
                </a:solidFill>
              </a:rPr>
              <a:t>Score: 0.8013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406640" y="393192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43800" y="400507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🥈  RandomForest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543800" y="438912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R²: 0.8287  |  std: ±0.0143  |  gap: +0.1378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543800" y="47091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</a:rPr>
              <a:t>Score: 0.7802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406640" y="5257800"/>
            <a:ext cx="45720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43800" y="5330952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🥉  ExtraTrees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543800" y="571500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R²: 0.8179  |  std: ±0.0148  |  gap: +0.1801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543800" y="603504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Score: 0.7565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7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Score combinado y decisión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3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Decisión final: GradientBoosting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mejor equilibrio entre rendimiento, estabilidad y generalización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1064240" cy="27432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1430000" cy="2011680"/>
          </a:xfrm>
          <a:prstGeom prst="roundRect">
            <a:avLst>
              <a:gd name="adj" fmla="val 6818"/>
            </a:avLst>
          </a:prstGeom>
          <a:solidFill>
            <a:srgbClr val="0D6E46"/>
          </a:solidFill>
        </p:spPr>
      </p:sp>
      <p:sp>
        <p:nvSpPr>
          <p:cNvPr id="6" name="Text 4"/>
          <p:cNvSpPr/>
          <p:nvPr/>
        </p:nvSpPr>
        <p:spPr>
          <a:xfrm>
            <a:off x="548640" y="1280160"/>
            <a:ext cx="110642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7F3D0"/>
                </a:solidFill>
              </a:rPr>
              <a:t>🏆  MODELO SELECCIONADO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7315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GradientBoosting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65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0.8131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5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R² CV (5-fold)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651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±0.0184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651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Desv. estándar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7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+0.0087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Gap overfit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223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3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1.71s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223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Tiempo train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0" y="338328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9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6E46"/>
                </a:solidFill>
              </a:rPr>
              <a:t>0.8013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509760" y="4069080"/>
            <a:ext cx="210312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Score combinado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4754880"/>
            <a:ext cx="114300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40"/>
                </a:solidFill>
              </a:rPr>
              <a:t>¿Por qué GradientBoosting sobre RandomForest?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5230368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52303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5230368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✅  Gap de overfitting 16× menor: +0.009 vs +0.138 (RF) — generaliza mucho mejor a datos nuevos.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72200" y="5230368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72200" y="5230368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5230368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✅  R² comparable: solo 0.0156 menos que RandomForest — diferencia no significativa en práctica.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5797296"/>
            <a:ext cx="5623560" cy="502920"/>
          </a:xfrm>
          <a:prstGeom prst="rect">
            <a:avLst/>
          </a:prstGeom>
          <a:solidFill>
            <a:srgbClr val="E6F4E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797296"/>
            <a:ext cx="64008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5797296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✅  Tiempo razonable: 1.71s de entrenamiento — viable para reentrenamiento periódico.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172200" y="5797296"/>
            <a:ext cx="5623560" cy="502920"/>
          </a:xfrm>
          <a:prstGeom prst="rect">
            <a:avLst/>
          </a:prstGeom>
          <a:solidFill>
            <a:srgbClr val="FFF8E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2200" y="5797296"/>
            <a:ext cx="64008" cy="5029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5797296"/>
            <a:ext cx="5440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340"/>
                </a:solidFill>
              </a:rPr>
              <a:t>⚠️  RandomForest tiene R² levemente mayor pero su gap borderline (+0.138) es un riesgo para producción.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A2340"/>
          </a:solidFill>
          <a:ln w="12700">
            <a:solidFill>
              <a:srgbClr val="1A23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0" y="6400800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340"/>
                </a:solidFill>
              </a:rPr>
              <a:t>Paso 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737360" y="640080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</a:rPr>
              <a:t>Decisión final — GradientBoosting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64008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A9AC0"/>
                </a:solidFill>
              </a:rPr>
              <a:t>Comparación de Modelos | Melbourne Housing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Resumen Ejecutivo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</a:rPr>
              <a:t>Comparación de Modelos — Melbourne Housing  |  Modelo listo para el Notebook de Modelado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6" name="Text 4"/>
          <p:cNvSpPr/>
          <p:nvPr/>
        </p:nvSpPr>
        <p:spPr>
          <a:xfrm>
            <a:off x="54864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9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evaluados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9" name="Text 7"/>
          <p:cNvSpPr/>
          <p:nvPr/>
        </p:nvSpPr>
        <p:spPr>
          <a:xfrm>
            <a:off x="338328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5-Fold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38328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Validación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cruzada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0D6E46"/>
          </a:solidFill>
        </p:spPr>
      </p:sp>
      <p:sp>
        <p:nvSpPr>
          <p:cNvPr id="12" name="Text 10"/>
          <p:cNvSpPr/>
          <p:nvPr/>
        </p:nvSpPr>
        <p:spPr>
          <a:xfrm>
            <a:off x="621792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GBoost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21792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Modelo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ganador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52560" y="1508760"/>
            <a:ext cx="2468880" cy="1463040"/>
          </a:xfrm>
          <a:prstGeom prst="roundRect">
            <a:avLst>
              <a:gd name="adj" fmla="val 7500"/>
            </a:avLst>
          </a:prstGeom>
          <a:solidFill>
            <a:srgbClr val="2E4370"/>
          </a:solidFill>
        </p:spPr>
      </p:sp>
      <p:sp>
        <p:nvSpPr>
          <p:cNvPr id="15" name="Text 13"/>
          <p:cNvSpPr/>
          <p:nvPr/>
        </p:nvSpPr>
        <p:spPr>
          <a:xfrm>
            <a:off x="9052560" y="1554480"/>
            <a:ext cx="2468880" cy="877824"/>
          </a:xfrm>
          <a:prstGeom prst="rect">
            <a:avLst/>
          </a:prstGeom>
          <a:noFill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R² 0.813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052560" y="2357323"/>
            <a:ext cx="2468880" cy="6144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Mejor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</a:rPr>
              <a:t>balance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320040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0E0EF"/>
                </a:solidFill>
              </a:rPr>
              <a:t>Conclusiones clave: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576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657600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🏆  GradientBoosting elegido — mejor score combinado penalizando overfitting e inestabilidad.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55080" y="3657600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657600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657600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📊  Top tier: RF (R²=0.829), ExtraTrees (R²=0.818), GradientBoosting (R²=0.813) — muy cercanos.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4407408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440740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407408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⚠️  DecisionTree descartado — gap de overfitting de +0.30, el mayor del grupo.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355080" y="4407408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55080" y="4407408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92240" y="4407408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⚠️  ExtraTrees descartado — gap +0.18, supera el umbral de alerta de 0.15.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157216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515721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157216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🔵  Modelos lineales útiles como baseline — R²≈0.71 sin overfitting pero insuficiente para producción.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355080" y="5157216"/>
            <a:ext cx="5623560" cy="658368"/>
          </a:xfrm>
          <a:prstGeom prst="rect">
            <a:avLst/>
          </a:prstGeom>
          <a:solidFill>
            <a:srgbClr val="1E316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5157216"/>
            <a:ext cx="54864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5157216"/>
            <a:ext cx="5440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➡️  Próximo paso: Notebook de Modelado con GradientBoosting — ajuste de hiperparámetros y evaluación final.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110642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6D9C"/>
                </a:solidFill>
              </a:rPr>
              <a:t>Siguiente paso: Notebook de Modelado — hiperparámetros, curvas de aprendizaje y evaluación en profundidad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5677</Words>
  <Application>WPS Presentation</Application>
  <PresentationFormat>On-screen Show (16:9)</PresentationFormat>
  <Paragraphs>468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Calibri</vt:lpstr>
      <vt:lpstr>Calibri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Comparación de Modelos – Melbourne Housing</dc:title>
  <dc:creator>PptxGenJS</dc:creator>
  <dc:subject>PptxGenJS Presentation</dc:subject>
  <cp:lastModifiedBy>marianarada_mejorcdt</cp:lastModifiedBy>
  <cp:revision>2</cp:revision>
  <dcterms:created xsi:type="dcterms:W3CDTF">2026-05-01T18:11:00Z</dcterms:created>
  <dcterms:modified xsi:type="dcterms:W3CDTF">2026-05-01T18:25:58Z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6FBE749C69B448E3A2A43D0FEBDBCA59_12</vt:lpwstr>
  </property>
  <property fmtid="{D5CDD505-2E9C-101B-9397-08002B2CF9AE}" pid="3" name="KSOProductBuildVer">
    <vt:lpwstr>3082-12.1.0.25242</vt:lpwstr>
  </property>
</Properties>
</file>