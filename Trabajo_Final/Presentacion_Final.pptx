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s/slide20.xml" ContentType="application/vnd.openxmlformats-officedocument.presentationml.slide+xml"/>
  <Override PartName="/ppt/charts/chart12.xml" ContentType="application/vnd.openxmlformats-officedocument.drawingml.chart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55-0C4C-97F9-936F137D76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Gap de overfitting |R²_train − R²_test|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Overfit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0.13780000000000001</c:v>
                </c:pt>
                <c:pt idx="1">
                  <c:v>0.18010000000000001</c:v>
                </c:pt>
                <c:pt idx="2">
                  <c:v>8.6999999999999994E-3</c:v>
                </c:pt>
                <c:pt idx="3">
                  <c:v>9.4999999999999998E-3</c:v>
                </c:pt>
                <c:pt idx="4">
                  <c:v>9.5999999999999992E-3</c:v>
                </c:pt>
                <c:pt idx="5">
                  <c:v>9.0899999999999995E-2</c:v>
                </c:pt>
                <c:pt idx="6">
                  <c:v>9.4000000000000004E-3</c:v>
                </c:pt>
                <c:pt idx="7">
                  <c:v>8.3999999999999995E-3</c:v>
                </c:pt>
                <c:pt idx="8">
                  <c:v>0.30159999999999998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1F-B243-89D6-D96D8EE976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96698e-0ff6-4f89-afb8-54c2a8d076d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Tiempo de entrenamiento (segundos)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5.99</c:v>
                </c:pt>
                <c:pt idx="1">
                  <c:v>3.96</c:v>
                </c:pt>
                <c:pt idx="2">
                  <c:v>1.71</c:v>
                </c:pt>
                <c:pt idx="3">
                  <c:v>0.2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0.06</c:v>
                </c:pt>
                <c:pt idx="8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6-0E48-A8B4-96A321D14C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fc0be5-7017-42c5-a9be-1939a7c1093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A2340"/>
                </a:solidFill>
                <a:latin typeface="Arial" panose="020B0604020202020204"/>
              </a:rPr>
              <a:t>Score combinado (mayor = mejor equilibrio)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6E4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GradientBoosting</c:v>
                </c:pt>
                <c:pt idx="1">
                  <c:v>RandomForest</c:v>
                </c:pt>
                <c:pt idx="2">
                  <c:v>ExtraTrees</c:v>
                </c:pt>
                <c:pt idx="3">
                  <c:v>LinearRegression</c:v>
                </c:pt>
                <c:pt idx="4">
                  <c:v>Ridge</c:v>
                </c:pt>
                <c:pt idx="5">
                  <c:v>ElasticNet</c:v>
                </c:pt>
                <c:pt idx="6">
                  <c:v>Lasso</c:v>
                </c:pt>
                <c:pt idx="7">
                  <c:v>KNN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0.80130000000000001</c:v>
                </c:pt>
                <c:pt idx="1">
                  <c:v>0.7802</c:v>
                </c:pt>
                <c:pt idx="2">
                  <c:v>0.75649999999999995</c:v>
                </c:pt>
                <c:pt idx="3">
                  <c:v>0.7016</c:v>
                </c:pt>
                <c:pt idx="4">
                  <c:v>0.70150000000000001</c:v>
                </c:pt>
                <c:pt idx="5">
                  <c:v>0.68930000000000002</c:v>
                </c:pt>
                <c:pt idx="6">
                  <c:v>0.67279999999999995</c:v>
                </c:pt>
                <c:pt idx="7">
                  <c:v>0.66759999999999997</c:v>
                </c:pt>
                <c:pt idx="8">
                  <c:v>0.57489999999999997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C-D645-89B2-14B8CC67D8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8bae70d-5d11-4f1f-9658-ed17024a7b5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6F-474C-A4D3-104EB04C73E8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6F-474C-A4D3-104EB04C73E8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6F-474C-A4D3-104EB04C73E8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6F-474C-A4D3-104EB04C73E8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26F-474C-A4D3-104EB04C73E8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26F-474C-A4D3-104EB04C73E8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26F-474C-A4D3-104EB04C73E8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26F-474C-A4D3-104EB04C73E8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26F-474C-A4D3-104EB04C73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26F-474C-A4D3-104EB04C73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0F-4E94-83E8-0185170B4BD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0F-4E94-83E8-0185170B4BD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90F-4E94-83E8-0185170B4BD1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0F-4E94-83E8-0185170B4BD1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0F-4E94-83E8-0185170B4BD1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90F-4E94-83E8-0185170B4BD1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90F-4E94-83E8-0185170B4BD1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90F-4E94-83E8-0185170B4BD1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90F-4E94-83E8-0185170B4B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90F-4E94-83E8-0185170B4B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Tiempo de entrenamiento (segundos)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EA-46B9-8D3A-873A01D0EA0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EA-46B9-8D3A-873A01D0EA07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EA-46B9-8D3A-873A01D0EA07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EA-46B9-8D3A-873A01D0EA07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EA-46B9-8D3A-873A01D0EA07}"/>
              </c:ext>
            </c:extLst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EA-46B9-8D3A-873A01D0EA07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8EA-46B9-8D3A-873A01D0EA07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8EA-46B9-8D3A-873A01D0EA07}"/>
              </c:ext>
            </c:extLst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8EA-46B9-8D3A-873A01D0EA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5.99</c:v>
                </c:pt>
                <c:pt idx="1">
                  <c:v>3.96</c:v>
                </c:pt>
                <c:pt idx="2">
                  <c:v>1.71</c:v>
                </c:pt>
                <c:pt idx="3">
                  <c:v>0.2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0.06</c:v>
                </c:pt>
                <c:pt idx="8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8EA-46B9-8D3A-873A01D0EA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fc0be5-7017-42c5-a9be-1939a7c1093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Gap de overfitting |R²_train − R²_test|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Overfit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34-4482-B215-140606532421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34-4482-B215-140606532421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34-4482-B215-140606532421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34-4482-B215-140606532421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34-4482-B215-1406065324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034-4482-B215-140606532421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034-4482-B215-140606532421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034-4482-B215-140606532421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034-4482-B215-1406065324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0.13780000000000001</c:v>
                </c:pt>
                <c:pt idx="1">
                  <c:v>0.18010000000000001</c:v>
                </c:pt>
                <c:pt idx="2">
                  <c:v>8.6999999999999994E-3</c:v>
                </c:pt>
                <c:pt idx="3">
                  <c:v>9.4999999999999998E-3</c:v>
                </c:pt>
                <c:pt idx="4">
                  <c:v>9.5999999999999992E-3</c:v>
                </c:pt>
                <c:pt idx="5">
                  <c:v>9.0899999999999995E-2</c:v>
                </c:pt>
                <c:pt idx="6">
                  <c:v>9.4000000000000004E-3</c:v>
                </c:pt>
                <c:pt idx="7">
                  <c:v>8.3999999999999995E-3</c:v>
                </c:pt>
                <c:pt idx="8">
                  <c:v>0.30159999999999998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034-4482-B215-140606532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96698e-0ff6-4f89-afb8-54c2a8d076d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MX" sz="1100" b="0" i="0" u="none" strike="noStrike">
                <a:solidFill>
                  <a:srgbClr val="1A2340"/>
                </a:solidFill>
                <a:latin typeface="Arial" panose="020B0604020202020204"/>
              </a:rPr>
              <a:t>Score combinado (mayor = mejor equilibrio)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6E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B01-436A-A4F8-81048515495E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01-436A-A4F8-81048515495E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01-436A-A4F8-81048515495E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01-436A-A4F8-81048515495E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01-436A-A4F8-81048515495E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B01-436A-A4F8-81048515495E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B01-436A-A4F8-81048515495E}"/>
              </c:ext>
            </c:extLst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B01-436A-A4F8-81048515495E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B01-436A-A4F8-8104851549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GradientBoosting</c:v>
                </c:pt>
                <c:pt idx="1">
                  <c:v>RandomForest</c:v>
                </c:pt>
                <c:pt idx="2">
                  <c:v>ExtraTrees</c:v>
                </c:pt>
                <c:pt idx="3">
                  <c:v>LinearRegression</c:v>
                </c:pt>
                <c:pt idx="4">
                  <c:v>Ridge</c:v>
                </c:pt>
                <c:pt idx="5">
                  <c:v>ElasticNet</c:v>
                </c:pt>
                <c:pt idx="6">
                  <c:v>Lasso</c:v>
                </c:pt>
                <c:pt idx="7">
                  <c:v>KNN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0.80130000000000001</c:v>
                </c:pt>
                <c:pt idx="1">
                  <c:v>0.7802</c:v>
                </c:pt>
                <c:pt idx="2">
                  <c:v>0.75649999999999995</c:v>
                </c:pt>
                <c:pt idx="3">
                  <c:v>0.7016</c:v>
                </c:pt>
                <c:pt idx="4">
                  <c:v>0.70150000000000001</c:v>
                </c:pt>
                <c:pt idx="5">
                  <c:v>0.68930000000000002</c:v>
                </c:pt>
                <c:pt idx="6">
                  <c:v>0.67279999999999995</c:v>
                </c:pt>
                <c:pt idx="7">
                  <c:v>0.66759999999999997</c:v>
                </c:pt>
                <c:pt idx="8">
                  <c:v>0.57489999999999997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B01-436A-A4F8-8104851549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8bae70d-5d11-4f1f-9658-ed17024a7b5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Tiempo de entrenamiento (segundos)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97-40CD-B70E-D95DC245385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097-40CD-B70E-D95DC2453854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97-40CD-B70E-D95DC2453854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97-40CD-B70E-D95DC2453854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097-40CD-B70E-D95DC2453854}"/>
              </c:ext>
            </c:extLst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097-40CD-B70E-D95DC2453854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097-40CD-B70E-D95DC2453854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097-40CD-B70E-D95DC2453854}"/>
              </c:ext>
            </c:extLst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097-40CD-B70E-D95DC24538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5.99</c:v>
                </c:pt>
                <c:pt idx="1">
                  <c:v>3.96</c:v>
                </c:pt>
                <c:pt idx="2">
                  <c:v>1.71</c:v>
                </c:pt>
                <c:pt idx="3">
                  <c:v>0.2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0.06</c:v>
                </c:pt>
                <c:pt idx="8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097-40CD-B70E-D95DC2453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fc0be5-7017-42c5-a9be-1939a7c1093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100" b="0" i="0" u="none" strike="noStrike">
                <a:solidFill>
                  <a:srgbClr val="1A2340"/>
                </a:solidFill>
                <a:latin typeface="Arial" panose="020B0604020202020204"/>
              </a:rPr>
              <a:t>Gap de overfitting |R²_train − R²_test|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Overfit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56-4201-969F-AA65EDB03B9B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56-4201-969F-AA65EDB03B9B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56-4201-969F-AA65EDB03B9B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56-4201-969F-AA65EDB03B9B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456-4201-969F-AA65EDB03B9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456-4201-969F-AA65EDB03B9B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456-4201-969F-AA65EDB03B9B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456-4201-969F-AA65EDB03B9B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456-4201-969F-AA65EDB03B9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0.13780000000000001</c:v>
                </c:pt>
                <c:pt idx="1">
                  <c:v>0.18010000000000001</c:v>
                </c:pt>
                <c:pt idx="2">
                  <c:v>8.6999999999999994E-3</c:v>
                </c:pt>
                <c:pt idx="3">
                  <c:v>9.4999999999999998E-3</c:v>
                </c:pt>
                <c:pt idx="4">
                  <c:v>9.5999999999999992E-3</c:v>
                </c:pt>
                <c:pt idx="5">
                  <c:v>9.0899999999999995E-2</c:v>
                </c:pt>
                <c:pt idx="6">
                  <c:v>9.4000000000000004E-3</c:v>
                </c:pt>
                <c:pt idx="7">
                  <c:v>8.3999999999999995E-3</c:v>
                </c:pt>
                <c:pt idx="8">
                  <c:v>0.30159999999999998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456-4201-969F-AA65EDB03B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96698e-0ff6-4f89-afb8-54c2a8d076d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s-CO"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F9-4CB5-9663-D904AD1CE26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1F9-4CB5-9663-D904AD1CE26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1F9-4CB5-9663-D904AD1CE264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F9-4CB5-9663-D904AD1CE264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F9-4CB5-9663-D904AD1CE264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1F9-4CB5-9663-D904AD1CE264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1F9-4CB5-9663-D904AD1CE264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1F9-4CB5-9663-D904AD1CE264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1F9-4CB5-9663-D904AD1CE2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0.82869999999999999</c:v>
                </c:pt>
                <c:pt idx="1">
                  <c:v>0.81789999999999996</c:v>
                </c:pt>
                <c:pt idx="2">
                  <c:v>0.81310000000000004</c:v>
                </c:pt>
                <c:pt idx="3">
                  <c:v>0.71</c:v>
                </c:pt>
                <c:pt idx="4">
                  <c:v>0.71</c:v>
                </c:pt>
                <c:pt idx="5">
                  <c:v>0.70450000000000002</c:v>
                </c:pt>
                <c:pt idx="6">
                  <c:v>0.6986</c:v>
                </c:pt>
                <c:pt idx="7">
                  <c:v>0.68289999999999995</c:v>
                </c:pt>
                <c:pt idx="8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1F9-4CB5-9663-D904AD1CE2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  <a:endParaRPr lang="es-CO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/ns0:Relationships>
</file>

<file path=ppt/slides/_rels/slide13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/ns0:Relationships>
</file>

<file path=ppt/slides/_rels/slide14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/ns0:Relationships>
</file>

<file path=ppt/slides/_rels/slide15.xml.rels><?xml version='1.0' encoding='UTF-8' standalone='yes'?>
<ns0:Relationships xmlns:ns0="http://schemas.openxmlformats.org/package/2006/relationships"><ns0:Relationship Id="rId2" Type="http://schemas.openxmlformats.org/officeDocument/2006/relationships/chart" Target="../charts/chart5.xml"/><ns0:Relationship Id="rId1" Type="http://schemas.openxmlformats.org/officeDocument/2006/relationships/slideLayout" Target="../slideLayouts/slideLayout1.xml"/></ns0:Relationships>
</file>

<file path=ppt/slides/_rels/slide16.xml.rels><?xml version='1.0' encoding='UTF-8' standalone='yes'?>
<ns0:Relationships xmlns:ns0="http://schemas.openxmlformats.org/package/2006/relationships"><ns0:Relationship Id="rId2" Type="http://schemas.openxmlformats.org/officeDocument/2006/relationships/chart" Target="../charts/chart6.xml"/><ns0:Relationship Id="rId1" Type="http://schemas.openxmlformats.org/officeDocument/2006/relationships/slideLayout" Target="../slideLayouts/slideLayout1.xml"/></ns0:Relationships>
</file>

<file path=ppt/slides/_rels/slide17.xml.rels><?xml version='1.0' encoding='UTF-8' standalone='yes'?>
<ns0:Relationships xmlns:ns0="http://schemas.openxmlformats.org/package/2006/relationships"><ns0:Relationship Id="rId3" Type="http://schemas.openxmlformats.org/officeDocument/2006/relationships/chart" Target="../charts/chart7.xml"/><ns0:Relationship Id="rId2" Type="http://schemas.openxmlformats.org/officeDocument/2006/relationships/chart" Target="../charts/chart8.xml"/><ns0:Relationship Id="rId1" Type="http://schemas.openxmlformats.org/officeDocument/2006/relationships/slideLayout" Target="../slideLayouts/slideLayout1.xml"/></ns0:Relationships>
</file>

<file path=ppt/slides/_rels/slide18.xml.rels><?xml version='1.0' encoding='UTF-8' standalone='yes'?>
<ns0:Relationships xmlns:ns0="http://schemas.openxmlformats.org/package/2006/relationships"><ns0:Relationship Id="rId2" Type="http://schemas.openxmlformats.org/officeDocument/2006/relationships/chart" Target="../charts/chart9.xml"/><ns0:Relationship Id="rId1" Type="http://schemas.openxmlformats.org/officeDocument/2006/relationships/slideLayout" Target="../slideLayouts/slideLayout1.xml"/></ns0:Relationships>
</file>

<file path=ppt/slides/_rels/slide19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/ns0:Relationships>
</file>

<file path=ppt/slides/_rels/slide20.xml.rels><?xml version='1.0' encoding='UTF-8' standalone='yes'?>
<ns0:Relationships xmlns:ns0="http://schemas.openxmlformats.org/package/2006/relationships"><ns0:Relationship Id="rId3" Type="http://schemas.openxmlformats.org/officeDocument/2006/relationships/chart" Target="../charts/chart10.xml"/><ns0:Relationship Id="rId2" Type="http://schemas.openxmlformats.org/officeDocument/2006/relationships/chart" Target="../charts/chart11.xml"/><ns0:Relationship Id="rId1" Type="http://schemas.openxmlformats.org/officeDocument/2006/relationships/slideLayout" Target="../slideLayouts/slideLayout1.xml"/></ns0:Relationships>
</file>

<file path=ppt/slides/_rels/slide21.xml.rels><?xml version='1.0' encoding='UTF-8' standalone='yes'?>
<ns0:Relationships xmlns:ns0="http://schemas.openxmlformats.org/package/2006/relationships"><ns0:Relationship Id="rId2" Type="http://schemas.openxmlformats.org/officeDocument/2006/relationships/chart" Target="../charts/chart12.xml"/><ns0:Relationship Id="rId1" Type="http://schemas.openxmlformats.org/officeDocument/2006/relationships/slideLayout" Target="../slideLayouts/slideLayout1.xml"/></ns0:Relationships>
</file>

<file path=ppt/slides/_rels/slide22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Comparación de Modelos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Selección del mejor algoritmo predictivo para Melbourne Housing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Modelos evaluados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5-Fold CV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G.Boosting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 ganador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Mejor balance (RF)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Entradas: X_train (10,862 filas × 21 cols)  ·  X_test (2,716 filas × 21 cols)  ·  Target: Price_log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Metodología de comparación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pasos para elegir el mejor modelo antes de comprometerse con uno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Importar librerías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Cargar datos del 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Definir preprocessor compartido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4692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modelos candidatos (9)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Entrenar con validación cruzada 5-fold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Comparar resultados visualmente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08960"/>
            <a:ext cx="45720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Decisión final — elegir modelo ganador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120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21208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💡  Regla de oro: El ganador no es siempre el de mayor R². El mejor modelo combina buen desempeño, estabilidad entre folds y tiempo de entrenamiento razonable para producción.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1–2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Metodología general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Pasos 2–3: Preprocessor y modelos candidatos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preprocessor compartido garantiza que la comparación sea justa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Preprocessor (ColumnTransformer)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64008" cy="8686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370"/>
                </a:solidFill>
              </a:rPr>
              <a:t>Numéricas (20 cols)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SimpleImputer(median) → RobustScaler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Fecha (1 col)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datetime → timestamp → StandardScaler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6400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Categóricas (0 cols)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aplica en este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53035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75488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El preprocessor se ajusta solo con datos de train en cada fold — sin data leakage.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9 modelos candidatos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6459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645920"/>
            <a:ext cx="64008" cy="77724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916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Lineales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9659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LinearRegression, Ridge, Lasso, ElasticNet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5603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56032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Árboles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803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DecisionTree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4747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47472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5204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Ensamble (Bagging)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RandomForest, ExtraTrees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3891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4389120"/>
            <a:ext cx="64008" cy="777240"/>
          </a:xfrm>
          <a:prstGeom prst="rect">
            <a:avLst/>
          </a:prstGeom>
          <a:solidFill>
            <a:srgbClr val="0D6E46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4348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46"/>
                </a:solidFill>
              </a:rPr>
              <a:t>Ensamble (Boosting)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7091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GradientBoosting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53035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530352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53492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Basado en distancia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KNN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6080760"/>
            <a:ext cx="576072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6309360"/>
            <a:ext cx="64008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60807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Hiperparámetros por defecto — la optimización viene después.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2–3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Preprocessor compartido y modelos candidatos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4: Resultados de validación cruzada 5-fold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modelo se evaluó 5 veces — los números son el promedio honesto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R² CV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±Std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Gap Overfit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Tiempo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6E46"/>
                          </a:solidFill>
                        </a:rPr>
                        <a:t>0.8287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±0.0143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0.2179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+0.1378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5.99s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ExtraTrees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6E46"/>
                          </a:solidFill>
                        </a:rPr>
                        <a:t>0.8179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±0.0148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0.2247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+0.1801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3.96s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</a:rPr>
                        <a:t>⚠️ ALERTA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GradientBoosting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6E46"/>
                          </a:solidFill>
                        </a:rPr>
                        <a:t>0.8131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±0.0184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0.2276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+0.0087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1.71s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LinearRegression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0.7100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±0.0169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0.2836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-0.0095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0.20s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Ridge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0.7100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±0.0170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0.2836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-0.0096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0.05s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0.7045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±0.0193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0.2863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+0.0909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ElasticNet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0.6986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±0.0186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0.2891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-0.0094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0.05s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Lasso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0.6829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±0.0202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0.2966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-0.0084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0.06s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DecisionTree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0.6759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±0.0210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0.2999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+0.3016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0.16s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</a:rPr>
                        <a:t>⚠️ ALERTA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Entrenamiento y evaluación con validación cruzada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Pasos 5–6: Comparación visual de los 9 modelos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R², RMSE, overfitting y tiempo — el tradeoff completo de una sola vista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114300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5–6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Visualización comparativa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Análisis: R² y estabilidad entre modelos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mejor R² no siempre gana — la varianza entre folds también importa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Observaciones clave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🏆  Top tier (R² ≥ 0.81)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RandomForest (0.829), ExtraTrees (0.818), GradientBoosting (0.813)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🔵  Competitivo (R² ≈ 0.70)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LinearRegression, Ridge y KNN — válidos para baseline simple.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⬇️  Descartados (R² &lt; 0.70)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ElasticNet, Lasso, DecisionTree — rendimiento insuficiente.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📏  Estabilidad (std)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RandomForest std=0.014 — el más estable del top 3.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5–6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R² y estabilidad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Análisis: Overfitting y costo computacional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gap y el tiempo son los factores de producción — no solo el R²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319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Análisis de riesgo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64592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645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DecisionTree  —  gap +0.30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46520" y="199339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CRÍTICO: Sobreajuste extremo — descartado directamente.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26060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6060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ExtraTrees  —  gap +0.18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46520" y="295351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ALERTA: Supera umbral 0.15 — generaliza peor de lo que parece.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356616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611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RandomForest  —  gap +0.14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46520" y="39136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BORDERLINE: Muy cerca del umbral. Requiere regularización.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09360" y="452628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5262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GradientBoosting  —  gap +0.009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4652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EXCELENTE: El menor gap del top tier — mejor generalización.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09360" y="5486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486400"/>
            <a:ext cx="64008" cy="804672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Modelos lineales  —  gap ≈ 0.00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46520" y="5833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ÓPTIMO: Sin overfitting, pero R² más bajo.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5–6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Overfitting y tiempo de entrenamiento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7: Score combinado y decisión final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métrica que penaliza inestabilidad y overfitting simultáneamente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Score combinado  =  R²_CV_mean  −  (R²_CV_std × 0.5)  −  (Gap_overfit × 0.3)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2103120"/>
          <a:ext cx="6858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21031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Top 3 según score combinado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60604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67919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46"/>
                </a:solidFill>
              </a:rPr>
              <a:t>🥇  GradientBoosting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30632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R²: 0.8131  |  std: ±0.0184  |  gap: +0.0087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43800" y="3383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46"/>
                </a:solidFill>
              </a:rPr>
              <a:t>Score: 0.8013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393192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400507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🥈  RandomForest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3891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R²: 0.8287  |  std: ±0.0143  |  gap: +0.1378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43800" y="4709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Score: 0.7802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525780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533095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🥉  ExtraTrees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43800" y="5715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R²: 0.8179  |  std: ±0.0148  |  gap: +0.1801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43800" y="60350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Score: 0.7565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Score combinado y decisión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Decisión final: GradientBoosting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mejor equilibrio entre rendimiento, estabilidad y generalización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2011680"/>
          </a:xfrm>
          <a:prstGeom prst="roundRect">
            <a:avLst>
              <a:gd name="adj" fmla="val 6818"/>
            </a:avLst>
          </a:prstGeom>
          <a:solidFill>
            <a:srgbClr val="0D6E46"/>
          </a:solidFill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F3D0"/>
                </a:solidFill>
              </a:rPr>
              <a:t>🏆  MODELO SELECCIONADO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GradientBoosting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0.8131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R² CV (5-fold)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±0.0184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Desv. estándar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+0.0087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Gap overfit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1.71s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Tiempo train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0.8013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Score combinado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1430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¿Por qué GradientBoosting sobre RandomForest?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Gap de overfitting 16× menor: +0.009 vs +0.138 (RF) — generaliza mucho mejor a datos nuevos.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R² comparable: solo 0.0156 menos que RandomForest — diferencia no significativa en práctica.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5797296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797296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Tiempo razonable: 1.71s de entrenamiento — viable para reentrenamiento periódico.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5797296"/>
            <a:ext cx="562356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797296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⚠️  RandomForest tiene R² levemente mayor pero su gap borderline (+0.138) es un riesgo para producción.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Decisión final — GradientBoosting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Comparación de Modelos — Melbourne Housing  |  Modelo listo para el Notebook de Modelado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evaluados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5-Fold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GBoost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ganador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Mejor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balance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Conclusiones clave: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🏆  GradientBoosting elegido — mejor score combinado penalizando overfitting e inestabilidad.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📊  Top tier: RF (R²=0.829), ExtraTrees (R²=0.818), GradientBoosting (R²=0.813) — muy cercanos.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⚠️  DecisionTree descartado — gap de overfitting de +0.30, el mayor del grupo.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⚠️  ExtraTrees descartado — gap +0.18, supera el umbral de alerta de 0.15.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🔵  Modelos lineales útiles como baseline — R²≈0.71 sin overfitting pero insuficiente para producción.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➡️  Próximo paso: Notebook de Modelado con GradientBoosting — ajuste de hiperparámetros y evaluación final.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Siguiente paso: Notebook de Modelado — hiperparámetros, curvas de aprendizaje y evaluación en profundidad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10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Modelado y Evaluación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 transformación, entrenamiento y evaluación del modelo GradientBoosting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Pasos Modelado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 Pasos Eval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GBoost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Menor gap overfit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Dataset: Melbourne Housing  ·  Target: Price_log  ·  Train: 10,862 filas  ·  Test: 2,716 filas  ·  Features: 21 columnas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Flujo de trabajo del Modelado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pasos: del Feature Engineering al Pipeline entrenado y exportado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Importar librerías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Cargar datos del 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Construir el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4692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Entrenar el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del modelado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Exportar Pipeline (.pkl)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120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21208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💡  Regla de oro: fit() SOLO con datos de train. transform() se aplica a train y test. Esto previene el Data Leakage.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Pasos 1–6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Flujo completo del Modelado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3: Construcción del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ColumnTransformer aplica transformaciones por tipo de columna en paralelo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Pipeline: Preprocessor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64008" cy="8686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370"/>
                </a:solidFill>
              </a:rPr>
              <a:t>Numéricas (20 cols)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SimpleImputer(median) → RobustScaler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Fecha (1 col)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datetime → timestamp → StandardScaler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6400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Categóricas (0 cols)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aplica en este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53035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75488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fit() SOLO con X_train. transform() aplica a train y test por igual — sin data leakage.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Pipeline final: Preprocesamiento + Modelo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6459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645920"/>
            <a:ext cx="64008" cy="77724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916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ColumnTransformer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9659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Aplica sub-pipelines en paralelo por tipo de columna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5603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56032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Modelo elegido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803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X_train → ColumnTransformer → Transformado → Modelo.fit()Regressor(n_estimators=100, random_state=42)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4747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47472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5204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Resultado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pipeline_final = Pipeline([preprocesamiento, modelo])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3891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4389120"/>
            <a:ext cx="64008" cy="777240"/>
          </a:xfrm>
          <a:prstGeom prst="rect">
            <a:avLst/>
          </a:prstGeom>
          <a:solidFill>
            <a:srgbClr val="0D6E46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4348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46"/>
                </a:solidFill>
              </a:rPr>
              <a:t>Flujo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7091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X_train → ColumnTransformer → Transformado → Modelo.fit()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53492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Pipeline: ColumnTransformer + GradientBoosting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4: Entrenamiento y predicciones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Pipeline se entrena completo con X_train — ningún dato de test contamina el proceso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Resultados del entrenamiento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 Entrenamiento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pipeline_final.fit(X_train, y_train) — aprende medianas, escalas y pesos del modelo solo con train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📊  Predicciones en test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y_pred = pipeline_final.predict(X_test) — aplica transformaciones del train, no re-aprende nada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🔍  Inspección inicial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Primeras 10 predicciones en escala log vs escala original (np.expm1) para sanidad check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 Regla de oro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Si el target fue transformado con log1p, las predicciones también están en esa escala — aplica np.expm1() para interpretar en precios reales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Entrenamiento y predicciones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5-6: Exportar Pipeline y Resumen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Pipeline exportado como .pkl contiene preprocesamiento + modelo — listo para producción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Exportación del Pipeline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💾  Exportar con joblib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joblib.dump(pipeline_final, "pipeline_modelo.pkl") — guarda el Pipeline completo en disco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✅  Verificación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Cargar el .pkl y generar predicciones idénticas confirma que el Pipeline se serializó correctamente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📋  Resumen del modelado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Modelo: GradientBoostingRegressor  |  Train: 10,862 filas  |  Test: 2,716 filas  |  Features: 21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🚀  Producción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pipeline_cargado = joblib.load("pipeline_modelo.pkl") — predice sin reentrenar en cualquier entorno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Pasos 5–6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Exportar Pipeline y resumen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3 — Métricas base en test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Cuatro métricas dan una imagen completa del desempeño del modelo en escala original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319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Métricas clave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64592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645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RMSE — Error cuadrático medio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46520" y="199339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Penaliza fuerte los errores grandes. Útil cuando equivocarse mucho es costoso (ej: precio $500k vs $1M real)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26060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6060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MAE — Error absoluto medio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46520" y="295351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Error promedio sin castigo extra. Más robusto ante outliers. Interpretable directamente en $ de precio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356616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611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MAPE — Error porcentual medio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46520" y="39136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El más fácil de comunicar al cliente: "el modelo se equivoca en promedio un X%" en escala de precios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09360" y="452628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5262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R² — Varianza explicada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4652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Proporción de variabilidad del target que explica el modelo. R² &gt; 0.75 = modelo útil para producción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09360" y="5486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486400"/>
            <a:ext cx="64008" cy="804672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⚠️  Umbral de calidad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46520" y="5833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R² &gt; 0.75 útil | RMSE y MAE en escala original ($) | MAPE &lt; 20% aceptable para producción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Métricas base en test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4 — Train vs Test (Overfitting)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gap R²_train − R²_test detecta si el modelo memoriza en lugar de generalizar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Diagnóstico:  Gap &lt; 0.05 → bien balanceado  |  Gap 0.05–0.15 → leve overfitting  |  Gap &gt; 0.15 → crítico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2103120"/>
          <a:ext cx="6858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21031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Interpretación del gap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60604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67919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46"/>
                </a:solidFill>
              </a:rPr>
              <a:t>Gap &lt; 0 (R²_test &gt; R²_train)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30632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Inusual — sospecha de data leakage. Revisar que el preprocesamiento no vea datos de test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43800" y="3383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393192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400507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Gap 0.05–0.15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3891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Leve overfitting aceptable. El modelo generaliza razonablemente. Vigilar en producción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43800" y="4709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525780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533095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Gap &gt; 0.15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43800" y="5715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Overfitting significativo. Regularizar (Ridge/Lasso), reducir features o agregar más datos de train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43800" y="60350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Train vs Test y diagnóstico de overfitting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5 — Validación Cruzada 5-fold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CV repite la evaluación 5 veces — elimina el azar de una sola división train/test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2011680"/>
          </a:xfrm>
          <a:prstGeom prst="roundRect">
            <a:avLst>
              <a:gd name="adj" fmla="val 6818"/>
            </a:avLst>
          </a:prstGeom>
          <a:solidFill>
            <a:srgbClr val="0D6E46"/>
          </a:solidFill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F3D0"/>
                </a:solidFill>
              </a:rPr>
              <a:t>📊  RESULTADO 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GradientBoosting (5-fold)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0.8131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R² promedio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±0.0184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Std entre folds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0.2276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RMSE promedio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5 folds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Evaluaciones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KFold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Estrategia CV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1430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¿Por qué GradientBoosting (5-fold) sobre RandomForest?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Folds similares: modelo estable, aprende patrones consistentes independientemente de los datos de cada fold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⚠️  Un fold muy diferente: ese subconjunto tiene características distintas — puede indicar subgrupos en el dataset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5797296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797296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Tiempo razonable: 5 folds de entrenamiento — viable para reentrenamiento periódico.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5797296"/>
            <a:ext cx="562356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797296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💡  R² CV esperado en datos completamente nuevos: 0.8131 — esta es la métrica más confiable del modelo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 5-fold (5-fold)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6 — Análisis de Residuos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 residuos son la "firma" de lo que el modelo no pudo aprender — revelan patrones ocultos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319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Diagnóstico de residuos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64592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645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Media ≈ 0  (sin sesgo sistémico)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46520" y="199339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Los errores se distribuyen aleatoriamente — el modelo capturó todo el patrón sistémico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26060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6060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Distribución normal (Shapiro-Wilk p &gt; 0.05)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46520" y="295351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Residuos siguen una campana centrada en cero — no hay relaciones no lineales sin capturar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356616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611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Sin patrón vs predicciones (homocedasticidad)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46520" y="39136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Nube horizontal sin patrón = error uniforme en todo el rango. Embudo o curva = modelo incompleto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09360" y="452628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5262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⚠️  Señales de alerta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4652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Embudo → transformar target con log | Curva en U → agregar features polinomiales | Outliers → revisar datos atípicos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09360" y="5486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486400"/>
            <a:ext cx="64008" cy="804672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4 gráficos de diagnóstico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46520" y="5833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Residuos vs Predichos  |  Distribución (histograma)  |  Q-Q plot  |  Residuos vs observación (orden temporal)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Análisis de residuos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Evaluación: Paso 7 — Importancia de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Revela qué variables impulsan las predicciones y guía decisiones de Feature Engineering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Por tipo de modelo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🌳  Modelos de árboles (GBoost, RF)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feature_importances_: mide cuánto mejora cada feature la pureza de los nodos del árbol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📈  Modelos lineales (Ridge, Lasso)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Coeficientes: magnitud indica impacto, signo indica dirección (+ sube precio, − baja precio)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🔍  Preguntas que responde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¿Qué variables explican el Target? | ¿Hay data leakage? | ¿Qué features son prescindibles?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📊  Visualización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Top 15 features como barras horizontales — el 20% de features suele explicar el 80% del poder predictivo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Importancia de features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Modelado y Evaluación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Modelado y Evaluación — Melbourne Housing  |  Pipeline entrenado y evaluado con GradientBoosting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Pasos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5-Fold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GBoost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ganador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Menor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gap overfit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Conclusiones clave: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 Pipeline construido: ColumnTransformer (num/fecha) + GradientBoostingRegressor — sin data leakage.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📊  R² en test: 0.813 — el modelo explica el 81.3% de la varianza del precio en escala log.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🔍  Gap overfitting: +0.009 — excelente generalización, muy por debajo del umbral crítico de 0.15.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📈  CV 5-fold: R² = 0.8131 ± 0.0184 — resultado estable y confiable como estimación de producción.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🔵  Pasos lineales útiles como baseline — R²≈0.71 sin overfitting pero insuficiente para producción.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➡️  Pipeline exportado como .pkl — listo para predicción en producción sin reentrenar.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Pipeline listo para producción — siguiente paso: ajuste de hiperparámetros con GridSearchCV o RandomizedSearchCV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5677</Words>
  <Application>Microsoft Office PowerPoint</Application>
  <PresentationFormat>Panorámica</PresentationFormat>
  <Paragraphs>468</Paragraphs>
  <Slides>11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Modelos – Melbourne Housing</dc:title>
  <dc:subject>PptxGenJS Presentation</dc:subject>
  <dc:creator>PptxGenJS</dc:creator>
  <cp:lastModifiedBy>Cristhian Alexander Bejarano Murillo</cp:lastModifiedBy>
  <cp:revision>3</cp:revision>
  <dcterms:created xsi:type="dcterms:W3CDTF">2026-05-01T18:11:00Z</dcterms:created>
  <dcterms:modified xsi:type="dcterms:W3CDTF">2026-05-03T00:11:35Z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6FBE749C69B448E3A2A43D0FEBDBCA59_12</vt:lpwstr>
  </property>
  <property fmtid="{D5CDD505-2E9C-101B-9397-08002B2CF9AE}" pid="3" name="KSOProductBuildVer">
    <vt:lpwstr>3082-12.1.0.25242</vt:lpwstr>
  </property>
</Properties>
</file>